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rimo"/>
      <p:regular r:id="rId18"/>
      <p:bold r:id="rId19"/>
      <p:italic r:id="rId20"/>
      <p:boldItalic r:id="rId21"/>
    </p:embeddedFont>
    <p:embeddedFont>
      <p:font typeface="Epilogue Black"/>
      <p:bold r:id="rId22"/>
      <p:boldItalic r:id="rId23"/>
    </p:embeddedFont>
    <p:embeddedFont>
      <p:font typeface="Bebas Neue"/>
      <p:regular r:id="rId24"/>
    </p:embeddedFont>
    <p:embeddedFont>
      <p:font typeface="Epilog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22" Type="http://schemas.openxmlformats.org/officeDocument/2006/relationships/font" Target="fonts/EpilogueBlack-bold.fntdata"/><Relationship Id="rId21" Type="http://schemas.openxmlformats.org/officeDocument/2006/relationships/font" Target="fonts/Arimo-boldItalic.fntdata"/><Relationship Id="rId24" Type="http://schemas.openxmlformats.org/officeDocument/2006/relationships/font" Target="fonts/BebasNeue-regular.fntdata"/><Relationship Id="rId23" Type="http://schemas.openxmlformats.org/officeDocument/2006/relationships/font" Target="fonts/EpilogueBlack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pilogue-bold.fntdata"/><Relationship Id="rId25" Type="http://schemas.openxmlformats.org/officeDocument/2006/relationships/font" Target="fonts/Epilogue-regular.fntdata"/><Relationship Id="rId28" Type="http://schemas.openxmlformats.org/officeDocument/2006/relationships/font" Target="fonts/Epilogue-boldItalic.fntdata"/><Relationship Id="rId27" Type="http://schemas.openxmlformats.org/officeDocument/2006/relationships/font" Target="fonts/Epilog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Arimo-bold.fntdata"/><Relationship Id="rId18" Type="http://schemas.openxmlformats.org/officeDocument/2006/relationships/font" Target="fonts/Arim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5a1f6983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55a1f6983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7e9b3175f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7e9b3175f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58c2ab4bf6_0_3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58c2ab4bf6_0_3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47a2cac0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47a2cac0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47a2cac0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47a2cac0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47a2cac0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47a2cac0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47a2cac0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a47a2cac0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7e25d7a4e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17e25d7a4e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8c2ab4bf6_0_48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58c2ab4bf6_0_48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47a2cac03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47a2cac03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47a2cac03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47a2cac03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698388" y="1150700"/>
            <a:ext cx="4737000" cy="24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48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72538" y="3586300"/>
            <a:ext cx="4388700" cy="4065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720000" y="2457225"/>
            <a:ext cx="50676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20000" y="1170975"/>
            <a:ext cx="1473000" cy="111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720000" y="3894175"/>
            <a:ext cx="5067600" cy="465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19850" y="539500"/>
            <a:ext cx="7704000" cy="6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19850" y="1078750"/>
            <a:ext cx="7704000" cy="3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8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4733314" y="2162375"/>
            <a:ext cx="3698100" cy="24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5" name="Google Shape;25;p5"/>
          <p:cNvSpPr txBox="1"/>
          <p:nvPr>
            <p:ph idx="2" type="subTitle"/>
          </p:nvPr>
        </p:nvSpPr>
        <p:spPr>
          <a:xfrm>
            <a:off x="712613" y="2162375"/>
            <a:ext cx="3698100" cy="24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26" name="Google Shape;26;p5"/>
          <p:cNvSpPr txBox="1"/>
          <p:nvPr>
            <p:ph idx="3" type="subTitle"/>
          </p:nvPr>
        </p:nvSpPr>
        <p:spPr>
          <a:xfrm>
            <a:off x="712600" y="1582625"/>
            <a:ext cx="3698100" cy="467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4" type="subTitle"/>
          </p:nvPr>
        </p:nvSpPr>
        <p:spPr>
          <a:xfrm>
            <a:off x="4733325" y="1582625"/>
            <a:ext cx="3698100" cy="467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270725" y="544575"/>
            <a:ext cx="5160000" cy="10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720000" y="1598000"/>
            <a:ext cx="4011300" cy="11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720000" y="2880707"/>
            <a:ext cx="40113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1394700" y="2198075"/>
            <a:ext cx="6354600" cy="24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720000" y="1156500"/>
            <a:ext cx="4294800" cy="25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720000" y="3729875"/>
            <a:ext cx="4294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/>
          <p:nvPr>
            <p:ph idx="2" type="pic"/>
          </p:nvPr>
        </p:nvSpPr>
        <p:spPr>
          <a:xfrm>
            <a:off x="5181050" y="544375"/>
            <a:ext cx="3249600" cy="406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720000" y="3862050"/>
            <a:ext cx="7704000" cy="762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713100" y="539500"/>
            <a:ext cx="77178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2045700" y="2084575"/>
            <a:ext cx="5052600" cy="497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972942" y="2282801"/>
            <a:ext cx="2145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972942" y="4017800"/>
            <a:ext cx="2145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3670013" y="4017794"/>
            <a:ext cx="2145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3670013" y="2282801"/>
            <a:ext cx="2145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5" type="title"/>
          </p:nvPr>
        </p:nvSpPr>
        <p:spPr>
          <a:xfrm>
            <a:off x="1081550" y="1529475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6" type="title"/>
          </p:nvPr>
        </p:nvSpPr>
        <p:spPr>
          <a:xfrm>
            <a:off x="3778613" y="3231015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7" type="title"/>
          </p:nvPr>
        </p:nvSpPr>
        <p:spPr>
          <a:xfrm>
            <a:off x="1081550" y="3231015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8" type="title"/>
          </p:nvPr>
        </p:nvSpPr>
        <p:spPr>
          <a:xfrm>
            <a:off x="3778613" y="1529475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9" type="subTitle"/>
          </p:nvPr>
        </p:nvSpPr>
        <p:spPr>
          <a:xfrm>
            <a:off x="6026058" y="4017799"/>
            <a:ext cx="2124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3" type="subTitle"/>
          </p:nvPr>
        </p:nvSpPr>
        <p:spPr>
          <a:xfrm>
            <a:off x="6026058" y="2282801"/>
            <a:ext cx="2145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hasCustomPrompt="1" idx="14" type="title"/>
          </p:nvPr>
        </p:nvSpPr>
        <p:spPr>
          <a:xfrm>
            <a:off x="6114926" y="3222172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15" type="title"/>
          </p:nvPr>
        </p:nvSpPr>
        <p:spPr>
          <a:xfrm>
            <a:off x="6114926" y="1538317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idx="16" type="subTitle"/>
          </p:nvPr>
        </p:nvSpPr>
        <p:spPr>
          <a:xfrm>
            <a:off x="972942" y="1966400"/>
            <a:ext cx="21450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7" type="subTitle"/>
          </p:nvPr>
        </p:nvSpPr>
        <p:spPr>
          <a:xfrm>
            <a:off x="972942" y="3701875"/>
            <a:ext cx="21450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8" type="subTitle"/>
          </p:nvPr>
        </p:nvSpPr>
        <p:spPr>
          <a:xfrm>
            <a:off x="3670013" y="3701900"/>
            <a:ext cx="21450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19" type="subTitle"/>
          </p:nvPr>
        </p:nvSpPr>
        <p:spPr>
          <a:xfrm>
            <a:off x="3670013" y="1966400"/>
            <a:ext cx="21450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20" type="subTitle"/>
          </p:nvPr>
        </p:nvSpPr>
        <p:spPr>
          <a:xfrm>
            <a:off x="6026058" y="3690400"/>
            <a:ext cx="21249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21" type="subTitle"/>
          </p:nvPr>
        </p:nvSpPr>
        <p:spPr>
          <a:xfrm>
            <a:off x="6026058" y="1966400"/>
            <a:ext cx="21450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2970325" y="2490675"/>
            <a:ext cx="5308200" cy="531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1587175" y="901700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937700" y="3103525"/>
            <a:ext cx="21753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2" type="subTitle"/>
          </p:nvPr>
        </p:nvSpPr>
        <p:spPr>
          <a:xfrm>
            <a:off x="3484422" y="3103525"/>
            <a:ext cx="21753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3" type="subTitle"/>
          </p:nvPr>
        </p:nvSpPr>
        <p:spPr>
          <a:xfrm>
            <a:off x="6031150" y="3103525"/>
            <a:ext cx="21753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4" type="subTitle"/>
          </p:nvPr>
        </p:nvSpPr>
        <p:spPr>
          <a:xfrm>
            <a:off x="937700" y="2722525"/>
            <a:ext cx="2175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" name="Google Shape;82;p15"/>
          <p:cNvSpPr txBox="1"/>
          <p:nvPr>
            <p:ph idx="5" type="subTitle"/>
          </p:nvPr>
        </p:nvSpPr>
        <p:spPr>
          <a:xfrm>
            <a:off x="3484422" y="2722525"/>
            <a:ext cx="2175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6" type="subTitle"/>
          </p:nvPr>
        </p:nvSpPr>
        <p:spPr>
          <a:xfrm>
            <a:off x="6031150" y="2722525"/>
            <a:ext cx="2175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4908275" y="1865011"/>
            <a:ext cx="3522600" cy="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2" type="subTitle"/>
          </p:nvPr>
        </p:nvSpPr>
        <p:spPr>
          <a:xfrm>
            <a:off x="4908275" y="2963645"/>
            <a:ext cx="3522600" cy="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3" type="subTitle"/>
          </p:nvPr>
        </p:nvSpPr>
        <p:spPr>
          <a:xfrm>
            <a:off x="4908275" y="4046075"/>
            <a:ext cx="3522600" cy="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4" type="subTitle"/>
          </p:nvPr>
        </p:nvSpPr>
        <p:spPr>
          <a:xfrm>
            <a:off x="4908275" y="1505725"/>
            <a:ext cx="3522600" cy="408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5" type="subTitle"/>
          </p:nvPr>
        </p:nvSpPr>
        <p:spPr>
          <a:xfrm>
            <a:off x="4908275" y="2624303"/>
            <a:ext cx="3522600" cy="376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6" type="subTitle"/>
          </p:nvPr>
        </p:nvSpPr>
        <p:spPr>
          <a:xfrm>
            <a:off x="4908275" y="3692068"/>
            <a:ext cx="3522600" cy="376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1294375" y="1621676"/>
            <a:ext cx="5706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2" type="subTitle"/>
          </p:nvPr>
        </p:nvSpPr>
        <p:spPr>
          <a:xfrm>
            <a:off x="1294375" y="2804921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3" type="subTitle"/>
          </p:nvPr>
        </p:nvSpPr>
        <p:spPr>
          <a:xfrm>
            <a:off x="1294375" y="3930871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4" type="subTitle"/>
          </p:nvPr>
        </p:nvSpPr>
        <p:spPr>
          <a:xfrm>
            <a:off x="1294375" y="13298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5" type="subTitle"/>
          </p:nvPr>
        </p:nvSpPr>
        <p:spPr>
          <a:xfrm>
            <a:off x="1294375" y="24503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6" type="subTitle"/>
          </p:nvPr>
        </p:nvSpPr>
        <p:spPr>
          <a:xfrm>
            <a:off x="1294375" y="35709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1693375" y="2206775"/>
            <a:ext cx="2409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2" type="subTitle"/>
          </p:nvPr>
        </p:nvSpPr>
        <p:spPr>
          <a:xfrm>
            <a:off x="5041318" y="2206775"/>
            <a:ext cx="2409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3" type="subTitle"/>
          </p:nvPr>
        </p:nvSpPr>
        <p:spPr>
          <a:xfrm>
            <a:off x="1693375" y="3943175"/>
            <a:ext cx="2409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4" type="subTitle"/>
          </p:nvPr>
        </p:nvSpPr>
        <p:spPr>
          <a:xfrm>
            <a:off x="5041318" y="3943175"/>
            <a:ext cx="2409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5" type="subTitle"/>
          </p:nvPr>
        </p:nvSpPr>
        <p:spPr>
          <a:xfrm>
            <a:off x="1693376" y="1927975"/>
            <a:ext cx="2409300" cy="379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" name="Google Shape;110;p18"/>
          <p:cNvSpPr txBox="1"/>
          <p:nvPr>
            <p:ph idx="6" type="subTitle"/>
          </p:nvPr>
        </p:nvSpPr>
        <p:spPr>
          <a:xfrm>
            <a:off x="5041325" y="1927975"/>
            <a:ext cx="2409300" cy="379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1" name="Google Shape;111;p18"/>
          <p:cNvSpPr txBox="1"/>
          <p:nvPr>
            <p:ph idx="7" type="subTitle"/>
          </p:nvPr>
        </p:nvSpPr>
        <p:spPr>
          <a:xfrm>
            <a:off x="1693376" y="3612397"/>
            <a:ext cx="2409300" cy="379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8" type="subTitle"/>
          </p:nvPr>
        </p:nvSpPr>
        <p:spPr>
          <a:xfrm>
            <a:off x="5041325" y="3612397"/>
            <a:ext cx="2409300" cy="379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713225" y="1218575"/>
            <a:ext cx="6589800" cy="3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720000" y="854313"/>
            <a:ext cx="4011300" cy="11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" type="subTitle"/>
          </p:nvPr>
        </p:nvSpPr>
        <p:spPr>
          <a:xfrm>
            <a:off x="720000" y="2137016"/>
            <a:ext cx="4011300" cy="24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Arimo"/>
                <a:ea typeface="Arimo"/>
                <a:cs typeface="Arimo"/>
                <a:sym typeface="Arim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0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Arimo"/>
                <a:ea typeface="Arimo"/>
                <a:cs typeface="Arimo"/>
                <a:sym typeface="Arim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1" type="subTitle"/>
          </p:nvPr>
        </p:nvSpPr>
        <p:spPr>
          <a:xfrm>
            <a:off x="1230415" y="3974684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2" type="subTitle"/>
          </p:nvPr>
        </p:nvSpPr>
        <p:spPr>
          <a:xfrm>
            <a:off x="3571949" y="3974684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3" type="subTitle"/>
          </p:nvPr>
        </p:nvSpPr>
        <p:spPr>
          <a:xfrm>
            <a:off x="5913490" y="3974684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4" type="subTitle"/>
          </p:nvPr>
        </p:nvSpPr>
        <p:spPr>
          <a:xfrm>
            <a:off x="1230403" y="3649111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7" name="Google Shape;137;p24"/>
          <p:cNvSpPr txBox="1"/>
          <p:nvPr>
            <p:ph idx="5" type="subTitle"/>
          </p:nvPr>
        </p:nvSpPr>
        <p:spPr>
          <a:xfrm>
            <a:off x="3571947" y="3649111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6" type="subTitle"/>
          </p:nvPr>
        </p:nvSpPr>
        <p:spPr>
          <a:xfrm>
            <a:off x="5913497" y="3649111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7" type="subTitle"/>
          </p:nvPr>
        </p:nvSpPr>
        <p:spPr>
          <a:xfrm>
            <a:off x="1230415" y="2265325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8" type="subTitle"/>
          </p:nvPr>
        </p:nvSpPr>
        <p:spPr>
          <a:xfrm>
            <a:off x="3571949" y="2265325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9" type="subTitle"/>
          </p:nvPr>
        </p:nvSpPr>
        <p:spPr>
          <a:xfrm>
            <a:off x="5913490" y="2265325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3" type="subTitle"/>
          </p:nvPr>
        </p:nvSpPr>
        <p:spPr>
          <a:xfrm>
            <a:off x="1230403" y="1958600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14" type="subTitle"/>
          </p:nvPr>
        </p:nvSpPr>
        <p:spPr>
          <a:xfrm>
            <a:off x="3571947" y="1958600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24"/>
          <p:cNvSpPr txBox="1"/>
          <p:nvPr>
            <p:ph idx="15" type="subTitle"/>
          </p:nvPr>
        </p:nvSpPr>
        <p:spPr>
          <a:xfrm>
            <a:off x="5913497" y="1958600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Numbers and text">
  <p:cSld name="CUSTOM_1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 txBox="1"/>
          <p:nvPr>
            <p:ph hasCustomPrompt="1" type="title"/>
          </p:nvPr>
        </p:nvSpPr>
        <p:spPr>
          <a:xfrm>
            <a:off x="2478725" y="844300"/>
            <a:ext cx="4186800" cy="537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25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2478475" y="1464125"/>
            <a:ext cx="41868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hasCustomPrompt="1" idx="2" type="title"/>
          </p:nvPr>
        </p:nvSpPr>
        <p:spPr>
          <a:xfrm>
            <a:off x="2478600" y="2153563"/>
            <a:ext cx="4186800" cy="537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25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" name="Google Shape;150;p25"/>
          <p:cNvSpPr txBox="1"/>
          <p:nvPr>
            <p:ph idx="3" type="subTitle"/>
          </p:nvPr>
        </p:nvSpPr>
        <p:spPr>
          <a:xfrm>
            <a:off x="2478600" y="2773388"/>
            <a:ext cx="41868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hasCustomPrompt="1" idx="4" type="title"/>
          </p:nvPr>
        </p:nvSpPr>
        <p:spPr>
          <a:xfrm>
            <a:off x="2478600" y="3462825"/>
            <a:ext cx="4186800" cy="537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25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25"/>
          <p:cNvSpPr txBox="1"/>
          <p:nvPr>
            <p:ph idx="5" type="subTitle"/>
          </p:nvPr>
        </p:nvSpPr>
        <p:spPr>
          <a:xfrm>
            <a:off x="2478600" y="4082650"/>
            <a:ext cx="41868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 txBox="1"/>
          <p:nvPr>
            <p:ph idx="1" type="subTitle"/>
          </p:nvPr>
        </p:nvSpPr>
        <p:spPr>
          <a:xfrm>
            <a:off x="713225" y="1956878"/>
            <a:ext cx="4448100" cy="9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type="title"/>
          </p:nvPr>
        </p:nvSpPr>
        <p:spPr>
          <a:xfrm>
            <a:off x="861425" y="544500"/>
            <a:ext cx="4448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/>
        </p:nvSpPr>
        <p:spPr>
          <a:xfrm>
            <a:off x="71322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CREDITS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1200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" name="Google Shape;160;p27"/>
          <p:cNvGrpSpPr/>
          <p:nvPr/>
        </p:nvGrpSpPr>
        <p:grpSpPr>
          <a:xfrm rot="1282293">
            <a:off x="8362175" y="267367"/>
            <a:ext cx="520774" cy="619806"/>
            <a:chOff x="145982" y="527074"/>
            <a:chExt cx="520795" cy="619831"/>
          </a:xfrm>
        </p:grpSpPr>
        <p:sp>
          <p:nvSpPr>
            <p:cNvPr id="161" name="Google Shape;161;p27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7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27"/>
          <p:cNvGrpSpPr/>
          <p:nvPr/>
        </p:nvGrpSpPr>
        <p:grpSpPr>
          <a:xfrm flipH="1" rot="-1282293">
            <a:off x="261050" y="267367"/>
            <a:ext cx="520774" cy="619806"/>
            <a:chOff x="145982" y="527074"/>
            <a:chExt cx="520795" cy="619831"/>
          </a:xfrm>
        </p:grpSpPr>
        <p:sp>
          <p:nvSpPr>
            <p:cNvPr id="164" name="Google Shape;164;p27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7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27"/>
          <p:cNvGrpSpPr/>
          <p:nvPr/>
        </p:nvGrpSpPr>
        <p:grpSpPr>
          <a:xfrm rot="1282293">
            <a:off x="8362175" y="4174167"/>
            <a:ext cx="520774" cy="619806"/>
            <a:chOff x="145982" y="527074"/>
            <a:chExt cx="520795" cy="619831"/>
          </a:xfrm>
        </p:grpSpPr>
        <p:sp>
          <p:nvSpPr>
            <p:cNvPr id="167" name="Google Shape;167;p27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7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27"/>
          <p:cNvGrpSpPr/>
          <p:nvPr/>
        </p:nvGrpSpPr>
        <p:grpSpPr>
          <a:xfrm flipH="1" rot="-1282293">
            <a:off x="261050" y="4174167"/>
            <a:ext cx="520774" cy="619806"/>
            <a:chOff x="145982" y="527074"/>
            <a:chExt cx="520795" cy="619831"/>
          </a:xfrm>
        </p:grpSpPr>
        <p:sp>
          <p:nvSpPr>
            <p:cNvPr id="170" name="Google Shape;170;p27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7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2" name="Google Shape;17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622099" y="1440100"/>
            <a:ext cx="2476319" cy="192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1974" y="1654122"/>
            <a:ext cx="2476324" cy="1709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" name="Google Shape;176;p28"/>
          <p:cNvGrpSpPr/>
          <p:nvPr/>
        </p:nvGrpSpPr>
        <p:grpSpPr>
          <a:xfrm flipH="1" rot="-1282199">
            <a:off x="806784" y="2881200"/>
            <a:ext cx="375029" cy="446346"/>
            <a:chOff x="145982" y="527074"/>
            <a:chExt cx="520795" cy="619831"/>
          </a:xfrm>
        </p:grpSpPr>
        <p:sp>
          <p:nvSpPr>
            <p:cNvPr id="177" name="Google Shape;177;p28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8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28"/>
          <p:cNvGrpSpPr/>
          <p:nvPr/>
        </p:nvGrpSpPr>
        <p:grpSpPr>
          <a:xfrm flipH="1" rot="-1282199">
            <a:off x="518146" y="4376344"/>
            <a:ext cx="375029" cy="446346"/>
            <a:chOff x="145982" y="527074"/>
            <a:chExt cx="520795" cy="619831"/>
          </a:xfrm>
        </p:grpSpPr>
        <p:sp>
          <p:nvSpPr>
            <p:cNvPr id="180" name="Google Shape;180;p28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8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2" name="Google Shape;182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81178" y="3082282"/>
            <a:ext cx="2334223" cy="14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orient="horz" pos="2903">
          <p15:clr>
            <a:srgbClr val="EA4335"/>
          </p15:clr>
        </p15:guide>
        <p15:guide id="3" pos="449">
          <p15:clr>
            <a:srgbClr val="EA4335"/>
          </p15:clr>
        </p15:guide>
        <p15:guide id="4" pos="531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 txBox="1"/>
          <p:nvPr>
            <p:ph type="ctrTitle"/>
          </p:nvPr>
        </p:nvSpPr>
        <p:spPr>
          <a:xfrm>
            <a:off x="-104000" y="1313800"/>
            <a:ext cx="6399000" cy="23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700"/>
              <a:t>Hash_Functions</a:t>
            </a:r>
            <a:endParaRPr sz="5700">
              <a:solidFill>
                <a:schemeClr val="dk1"/>
              </a:solidFill>
            </a:endParaRPr>
          </a:p>
        </p:txBody>
      </p:sp>
      <p:sp>
        <p:nvSpPr>
          <p:cNvPr id="189" name="Google Shape;189;p29"/>
          <p:cNvSpPr txBox="1"/>
          <p:nvPr>
            <p:ph idx="1" type="subTitle"/>
          </p:nvPr>
        </p:nvSpPr>
        <p:spPr>
          <a:xfrm>
            <a:off x="139375" y="3035000"/>
            <a:ext cx="5904900" cy="406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Brian Bao Hoang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86725" y="2185188"/>
            <a:ext cx="4011300" cy="11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Diagram</a:t>
            </a:r>
            <a:endParaRPr/>
          </a:p>
        </p:txBody>
      </p:sp>
      <p:pic>
        <p:nvPicPr>
          <p:cNvPr id="195" name="Google Shape;1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7300" y="2847273"/>
            <a:ext cx="5586700" cy="228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7300" y="0"/>
            <a:ext cx="5586699" cy="284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720000" y="453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Functions Tested</a:t>
            </a:r>
            <a:endParaRPr/>
          </a:p>
        </p:txBody>
      </p:sp>
      <p:sp>
        <p:nvSpPr>
          <p:cNvPr id="202" name="Google Shape;202;p31"/>
          <p:cNvSpPr txBox="1"/>
          <p:nvPr>
            <p:ph idx="2" type="subTitle"/>
          </p:nvPr>
        </p:nvSpPr>
        <p:spPr>
          <a:xfrm>
            <a:off x="1337725" y="3106213"/>
            <a:ext cx="1637100" cy="10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Scrambles bits using XOR operations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761550" y="1734975"/>
            <a:ext cx="789300" cy="78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1"/>
          <p:cNvSpPr txBox="1"/>
          <p:nvPr>
            <p:ph idx="5" type="subTitle"/>
          </p:nvPr>
        </p:nvSpPr>
        <p:spPr>
          <a:xfrm>
            <a:off x="1068622" y="2720825"/>
            <a:ext cx="2175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Bitwise Hashing</a:t>
            </a:r>
            <a:endParaRPr/>
          </a:p>
        </p:txBody>
      </p:sp>
      <p:sp>
        <p:nvSpPr>
          <p:cNvPr id="205" name="Google Shape;205;p31"/>
          <p:cNvSpPr txBox="1"/>
          <p:nvPr>
            <p:ph idx="3" type="subTitle"/>
          </p:nvPr>
        </p:nvSpPr>
        <p:spPr>
          <a:xfrm>
            <a:off x="4178400" y="3389088"/>
            <a:ext cx="12870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Treats URL as base-31 number</a:t>
            </a:r>
            <a:endParaRPr/>
          </a:p>
        </p:txBody>
      </p:sp>
      <p:sp>
        <p:nvSpPr>
          <p:cNvPr id="206" name="Google Shape;206;p31"/>
          <p:cNvSpPr/>
          <p:nvPr/>
        </p:nvSpPr>
        <p:spPr>
          <a:xfrm>
            <a:off x="4427250" y="1734975"/>
            <a:ext cx="789300" cy="78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1"/>
          <p:cNvSpPr txBox="1"/>
          <p:nvPr>
            <p:ph idx="6" type="subTitle"/>
          </p:nvPr>
        </p:nvSpPr>
        <p:spPr>
          <a:xfrm>
            <a:off x="3553025" y="2720825"/>
            <a:ext cx="2538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 Rolling Hash</a:t>
            </a:r>
            <a:endParaRPr/>
          </a:p>
        </p:txBody>
      </p:sp>
      <p:sp>
        <p:nvSpPr>
          <p:cNvPr id="208" name="Google Shape;208;p31"/>
          <p:cNvSpPr txBox="1"/>
          <p:nvPr>
            <p:ph idx="3" type="subTitle"/>
          </p:nvPr>
        </p:nvSpPr>
        <p:spPr>
          <a:xfrm>
            <a:off x="6428125" y="3232600"/>
            <a:ext cx="16839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Randomizes hash function at runtime</a:t>
            </a:r>
            <a:endParaRPr/>
          </a:p>
        </p:txBody>
      </p:sp>
      <p:sp>
        <p:nvSpPr>
          <p:cNvPr id="209" name="Google Shape;209;p31"/>
          <p:cNvSpPr/>
          <p:nvPr/>
        </p:nvSpPr>
        <p:spPr>
          <a:xfrm>
            <a:off x="6875425" y="1734975"/>
            <a:ext cx="789300" cy="78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 txBox="1"/>
          <p:nvPr>
            <p:ph idx="6" type="subTitle"/>
          </p:nvPr>
        </p:nvSpPr>
        <p:spPr>
          <a:xfrm>
            <a:off x="6001200" y="2720825"/>
            <a:ext cx="2538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Universal Hashing</a:t>
            </a:r>
            <a:endParaRPr/>
          </a:p>
        </p:txBody>
      </p:sp>
      <p:grpSp>
        <p:nvGrpSpPr>
          <p:cNvPr id="211" name="Google Shape;211;p31"/>
          <p:cNvGrpSpPr/>
          <p:nvPr/>
        </p:nvGrpSpPr>
        <p:grpSpPr>
          <a:xfrm>
            <a:off x="7093492" y="1920530"/>
            <a:ext cx="353146" cy="447423"/>
            <a:chOff x="6707084" y="3387403"/>
            <a:chExt cx="261145" cy="308504"/>
          </a:xfrm>
        </p:grpSpPr>
        <p:sp>
          <p:nvSpPr>
            <p:cNvPr id="212" name="Google Shape;212;p31"/>
            <p:cNvSpPr/>
            <p:nvPr/>
          </p:nvSpPr>
          <p:spPr>
            <a:xfrm>
              <a:off x="6726053" y="3542403"/>
              <a:ext cx="68238" cy="153504"/>
            </a:xfrm>
            <a:custGeom>
              <a:rect b="b" l="l" r="r" t="t"/>
              <a:pathLst>
                <a:path extrusionOk="0" h="4823" w="2144">
                  <a:moveTo>
                    <a:pt x="1203" y="286"/>
                  </a:moveTo>
                  <a:cubicBezTo>
                    <a:pt x="1381" y="286"/>
                    <a:pt x="1524" y="417"/>
                    <a:pt x="1524" y="596"/>
                  </a:cubicBezTo>
                  <a:lnTo>
                    <a:pt x="1524" y="893"/>
                  </a:lnTo>
                  <a:cubicBezTo>
                    <a:pt x="1524" y="1143"/>
                    <a:pt x="1310" y="1358"/>
                    <a:pt x="1060" y="1358"/>
                  </a:cubicBezTo>
                  <a:cubicBezTo>
                    <a:pt x="810" y="1358"/>
                    <a:pt x="596" y="1143"/>
                    <a:pt x="596" y="893"/>
                  </a:cubicBezTo>
                  <a:lnTo>
                    <a:pt x="596" y="596"/>
                  </a:lnTo>
                  <a:cubicBezTo>
                    <a:pt x="596" y="417"/>
                    <a:pt x="726" y="286"/>
                    <a:pt x="905" y="286"/>
                  </a:cubicBezTo>
                  <a:close/>
                  <a:moveTo>
                    <a:pt x="1227" y="1643"/>
                  </a:moveTo>
                  <a:lnTo>
                    <a:pt x="1227" y="1715"/>
                  </a:lnTo>
                  <a:cubicBezTo>
                    <a:pt x="1227" y="1774"/>
                    <a:pt x="1238" y="1822"/>
                    <a:pt x="1262" y="1858"/>
                  </a:cubicBezTo>
                  <a:lnTo>
                    <a:pt x="1060" y="2036"/>
                  </a:lnTo>
                  <a:lnTo>
                    <a:pt x="846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1060" y="2036"/>
                  </a:moveTo>
                  <a:cubicBezTo>
                    <a:pt x="1060" y="2048"/>
                    <a:pt x="1057" y="2054"/>
                    <a:pt x="1055" y="2054"/>
                  </a:cubicBezTo>
                  <a:cubicBezTo>
                    <a:pt x="1054" y="2054"/>
                    <a:pt x="1054" y="2048"/>
                    <a:pt x="1060" y="2036"/>
                  </a:cubicBezTo>
                  <a:close/>
                  <a:moveTo>
                    <a:pt x="905" y="0"/>
                  </a:moveTo>
                  <a:cubicBezTo>
                    <a:pt x="584" y="0"/>
                    <a:pt x="310" y="274"/>
                    <a:pt x="310" y="596"/>
                  </a:cubicBezTo>
                  <a:lnTo>
                    <a:pt x="310" y="893"/>
                  </a:lnTo>
                  <a:cubicBezTo>
                    <a:pt x="310" y="1143"/>
                    <a:pt x="429" y="1358"/>
                    <a:pt x="607" y="1489"/>
                  </a:cubicBezTo>
                  <a:lnTo>
                    <a:pt x="607" y="1703"/>
                  </a:lnTo>
                  <a:lnTo>
                    <a:pt x="607" y="1715"/>
                  </a:lnTo>
                  <a:lnTo>
                    <a:pt x="250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36" y="3870"/>
                    <a:pt x="107" y="3965"/>
                  </a:cubicBezTo>
                  <a:lnTo>
                    <a:pt x="250" y="4179"/>
                  </a:lnTo>
                  <a:cubicBezTo>
                    <a:pt x="286" y="4227"/>
                    <a:pt x="310" y="4298"/>
                    <a:pt x="310" y="4358"/>
                  </a:cubicBezTo>
                  <a:lnTo>
                    <a:pt x="310" y="4679"/>
                  </a:lnTo>
                  <a:cubicBezTo>
                    <a:pt x="310" y="4751"/>
                    <a:pt x="369" y="4822"/>
                    <a:pt x="465" y="4822"/>
                  </a:cubicBezTo>
                  <a:cubicBezTo>
                    <a:pt x="536" y="4822"/>
                    <a:pt x="607" y="4763"/>
                    <a:pt x="607" y="4679"/>
                  </a:cubicBezTo>
                  <a:lnTo>
                    <a:pt x="607" y="4358"/>
                  </a:lnTo>
                  <a:cubicBezTo>
                    <a:pt x="607" y="4239"/>
                    <a:pt x="584" y="4120"/>
                    <a:pt x="512" y="4036"/>
                  </a:cubicBezTo>
                  <a:lnTo>
                    <a:pt x="357" y="3810"/>
                  </a:lnTo>
                  <a:cubicBezTo>
                    <a:pt x="334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34" y="2179"/>
                    <a:pt x="381" y="2143"/>
                  </a:cubicBezTo>
                  <a:lnTo>
                    <a:pt x="643" y="2024"/>
                  </a:lnTo>
                  <a:lnTo>
                    <a:pt x="857" y="2251"/>
                  </a:lnTo>
                  <a:cubicBezTo>
                    <a:pt x="929" y="2310"/>
                    <a:pt x="1000" y="2334"/>
                    <a:pt x="1072" y="2334"/>
                  </a:cubicBezTo>
                  <a:cubicBezTo>
                    <a:pt x="1143" y="2334"/>
                    <a:pt x="1227" y="2310"/>
                    <a:pt x="1286" y="2251"/>
                  </a:cubicBezTo>
                  <a:lnTo>
                    <a:pt x="1500" y="2024"/>
                  </a:lnTo>
                  <a:lnTo>
                    <a:pt x="1762" y="2143"/>
                  </a:lnTo>
                  <a:cubicBezTo>
                    <a:pt x="1822" y="2179"/>
                    <a:pt x="1846" y="2239"/>
                    <a:pt x="1846" y="2298"/>
                  </a:cubicBezTo>
                  <a:lnTo>
                    <a:pt x="1846" y="3632"/>
                  </a:lnTo>
                  <a:cubicBezTo>
                    <a:pt x="1846" y="3691"/>
                    <a:pt x="1834" y="3751"/>
                    <a:pt x="1786" y="3810"/>
                  </a:cubicBezTo>
                  <a:lnTo>
                    <a:pt x="1643" y="4036"/>
                  </a:lnTo>
                  <a:cubicBezTo>
                    <a:pt x="1572" y="4144"/>
                    <a:pt x="1536" y="4239"/>
                    <a:pt x="1536" y="4358"/>
                  </a:cubicBezTo>
                  <a:lnTo>
                    <a:pt x="1536" y="4679"/>
                  </a:lnTo>
                  <a:cubicBezTo>
                    <a:pt x="1536" y="4751"/>
                    <a:pt x="1596" y="4822"/>
                    <a:pt x="1679" y="4822"/>
                  </a:cubicBezTo>
                  <a:cubicBezTo>
                    <a:pt x="1750" y="4822"/>
                    <a:pt x="1834" y="4763"/>
                    <a:pt x="1834" y="4679"/>
                  </a:cubicBezTo>
                  <a:lnTo>
                    <a:pt x="1834" y="4358"/>
                  </a:lnTo>
                  <a:cubicBezTo>
                    <a:pt x="1834" y="4298"/>
                    <a:pt x="1846" y="4239"/>
                    <a:pt x="1893" y="4179"/>
                  </a:cubicBezTo>
                  <a:lnTo>
                    <a:pt x="2036" y="3965"/>
                  </a:lnTo>
                  <a:cubicBezTo>
                    <a:pt x="2096" y="3858"/>
                    <a:pt x="2143" y="3751"/>
                    <a:pt x="2143" y="3632"/>
                  </a:cubicBezTo>
                  <a:lnTo>
                    <a:pt x="2143" y="2298"/>
                  </a:lnTo>
                  <a:cubicBezTo>
                    <a:pt x="2096" y="2120"/>
                    <a:pt x="2012" y="1965"/>
                    <a:pt x="1858" y="1893"/>
                  </a:cubicBezTo>
                  <a:lnTo>
                    <a:pt x="1500" y="1715"/>
                  </a:lnTo>
                  <a:lnTo>
                    <a:pt x="1500" y="1703"/>
                  </a:lnTo>
                  <a:lnTo>
                    <a:pt x="1500" y="1489"/>
                  </a:lnTo>
                  <a:cubicBezTo>
                    <a:pt x="1679" y="1358"/>
                    <a:pt x="1798" y="1131"/>
                    <a:pt x="1798" y="893"/>
                  </a:cubicBezTo>
                  <a:lnTo>
                    <a:pt x="1798" y="596"/>
                  </a:lnTo>
                  <a:cubicBezTo>
                    <a:pt x="1798" y="274"/>
                    <a:pt x="1536" y="0"/>
                    <a:pt x="1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9999"/>
                </a:solidFill>
              </a:endParaRPr>
            </a:p>
          </p:txBody>
        </p:sp>
        <p:sp>
          <p:nvSpPr>
            <p:cNvPr id="213" name="Google Shape;213;p31"/>
            <p:cNvSpPr/>
            <p:nvPr/>
          </p:nvSpPr>
          <p:spPr>
            <a:xfrm>
              <a:off x="6803362" y="3542403"/>
              <a:ext cx="68238" cy="153504"/>
            </a:xfrm>
            <a:custGeom>
              <a:rect b="b" l="l" r="r" t="t"/>
              <a:pathLst>
                <a:path extrusionOk="0" h="4823" w="2144">
                  <a:moveTo>
                    <a:pt x="1203" y="286"/>
                  </a:moveTo>
                  <a:cubicBezTo>
                    <a:pt x="1381" y="286"/>
                    <a:pt x="1512" y="417"/>
                    <a:pt x="1512" y="596"/>
                  </a:cubicBezTo>
                  <a:lnTo>
                    <a:pt x="1512" y="893"/>
                  </a:lnTo>
                  <a:cubicBezTo>
                    <a:pt x="1512" y="1143"/>
                    <a:pt x="1310" y="1358"/>
                    <a:pt x="1060" y="1358"/>
                  </a:cubicBezTo>
                  <a:cubicBezTo>
                    <a:pt x="798" y="1358"/>
                    <a:pt x="595" y="1143"/>
                    <a:pt x="595" y="893"/>
                  </a:cubicBezTo>
                  <a:lnTo>
                    <a:pt x="595" y="596"/>
                  </a:lnTo>
                  <a:cubicBezTo>
                    <a:pt x="595" y="417"/>
                    <a:pt x="726" y="286"/>
                    <a:pt x="905" y="286"/>
                  </a:cubicBezTo>
                  <a:close/>
                  <a:moveTo>
                    <a:pt x="1215" y="1643"/>
                  </a:moveTo>
                  <a:lnTo>
                    <a:pt x="1215" y="1715"/>
                  </a:lnTo>
                  <a:cubicBezTo>
                    <a:pt x="1215" y="1774"/>
                    <a:pt x="1226" y="1822"/>
                    <a:pt x="1262" y="1858"/>
                  </a:cubicBezTo>
                  <a:lnTo>
                    <a:pt x="1060" y="2036"/>
                  </a:lnTo>
                  <a:lnTo>
                    <a:pt x="845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1060" y="2036"/>
                  </a:moveTo>
                  <a:cubicBezTo>
                    <a:pt x="1060" y="2048"/>
                    <a:pt x="1054" y="2054"/>
                    <a:pt x="1051" y="2054"/>
                  </a:cubicBezTo>
                  <a:cubicBezTo>
                    <a:pt x="1048" y="2054"/>
                    <a:pt x="1048" y="2048"/>
                    <a:pt x="1060" y="2036"/>
                  </a:cubicBezTo>
                  <a:close/>
                  <a:moveTo>
                    <a:pt x="905" y="0"/>
                  </a:moveTo>
                  <a:cubicBezTo>
                    <a:pt x="583" y="0"/>
                    <a:pt x="310" y="274"/>
                    <a:pt x="310" y="596"/>
                  </a:cubicBezTo>
                  <a:lnTo>
                    <a:pt x="310" y="893"/>
                  </a:lnTo>
                  <a:cubicBezTo>
                    <a:pt x="310" y="1143"/>
                    <a:pt x="429" y="1358"/>
                    <a:pt x="607" y="1489"/>
                  </a:cubicBezTo>
                  <a:lnTo>
                    <a:pt x="607" y="1703"/>
                  </a:lnTo>
                  <a:lnTo>
                    <a:pt x="607" y="1715"/>
                  </a:lnTo>
                  <a:lnTo>
                    <a:pt x="250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24" y="3870"/>
                    <a:pt x="107" y="3965"/>
                  </a:cubicBezTo>
                  <a:lnTo>
                    <a:pt x="250" y="4179"/>
                  </a:lnTo>
                  <a:cubicBezTo>
                    <a:pt x="286" y="4227"/>
                    <a:pt x="310" y="4298"/>
                    <a:pt x="310" y="4358"/>
                  </a:cubicBezTo>
                  <a:lnTo>
                    <a:pt x="310" y="4679"/>
                  </a:lnTo>
                  <a:cubicBezTo>
                    <a:pt x="310" y="4751"/>
                    <a:pt x="369" y="4822"/>
                    <a:pt x="464" y="4822"/>
                  </a:cubicBezTo>
                  <a:cubicBezTo>
                    <a:pt x="548" y="4822"/>
                    <a:pt x="607" y="4763"/>
                    <a:pt x="607" y="4679"/>
                  </a:cubicBezTo>
                  <a:lnTo>
                    <a:pt x="607" y="4358"/>
                  </a:lnTo>
                  <a:cubicBezTo>
                    <a:pt x="607" y="4239"/>
                    <a:pt x="583" y="4120"/>
                    <a:pt x="500" y="4036"/>
                  </a:cubicBezTo>
                  <a:lnTo>
                    <a:pt x="357" y="3810"/>
                  </a:lnTo>
                  <a:cubicBezTo>
                    <a:pt x="322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22" y="2179"/>
                    <a:pt x="381" y="2143"/>
                  </a:cubicBezTo>
                  <a:lnTo>
                    <a:pt x="631" y="2024"/>
                  </a:lnTo>
                  <a:lnTo>
                    <a:pt x="857" y="2251"/>
                  </a:lnTo>
                  <a:cubicBezTo>
                    <a:pt x="917" y="2310"/>
                    <a:pt x="1000" y="2334"/>
                    <a:pt x="1072" y="2334"/>
                  </a:cubicBezTo>
                  <a:cubicBezTo>
                    <a:pt x="1143" y="2334"/>
                    <a:pt x="1215" y="2310"/>
                    <a:pt x="1274" y="2251"/>
                  </a:cubicBezTo>
                  <a:lnTo>
                    <a:pt x="1500" y="2024"/>
                  </a:lnTo>
                  <a:lnTo>
                    <a:pt x="1750" y="2143"/>
                  </a:lnTo>
                  <a:cubicBezTo>
                    <a:pt x="1810" y="2179"/>
                    <a:pt x="1846" y="2239"/>
                    <a:pt x="1846" y="2298"/>
                  </a:cubicBezTo>
                  <a:lnTo>
                    <a:pt x="1846" y="3632"/>
                  </a:lnTo>
                  <a:cubicBezTo>
                    <a:pt x="1846" y="3691"/>
                    <a:pt x="1834" y="3751"/>
                    <a:pt x="1786" y="3810"/>
                  </a:cubicBezTo>
                  <a:lnTo>
                    <a:pt x="1631" y="4036"/>
                  </a:lnTo>
                  <a:cubicBezTo>
                    <a:pt x="1572" y="4144"/>
                    <a:pt x="1524" y="4239"/>
                    <a:pt x="1524" y="4358"/>
                  </a:cubicBezTo>
                  <a:lnTo>
                    <a:pt x="1524" y="4679"/>
                  </a:lnTo>
                  <a:cubicBezTo>
                    <a:pt x="1524" y="4751"/>
                    <a:pt x="1596" y="4822"/>
                    <a:pt x="1679" y="4822"/>
                  </a:cubicBezTo>
                  <a:cubicBezTo>
                    <a:pt x="1750" y="4822"/>
                    <a:pt x="1822" y="4763"/>
                    <a:pt x="1822" y="4679"/>
                  </a:cubicBezTo>
                  <a:lnTo>
                    <a:pt x="1822" y="4358"/>
                  </a:lnTo>
                  <a:cubicBezTo>
                    <a:pt x="1822" y="4298"/>
                    <a:pt x="1846" y="4239"/>
                    <a:pt x="1893" y="4179"/>
                  </a:cubicBezTo>
                  <a:lnTo>
                    <a:pt x="2036" y="3965"/>
                  </a:lnTo>
                  <a:cubicBezTo>
                    <a:pt x="2096" y="3858"/>
                    <a:pt x="2143" y="3751"/>
                    <a:pt x="2143" y="3632"/>
                  </a:cubicBezTo>
                  <a:lnTo>
                    <a:pt x="2143" y="2298"/>
                  </a:lnTo>
                  <a:cubicBezTo>
                    <a:pt x="2096" y="2120"/>
                    <a:pt x="2012" y="1965"/>
                    <a:pt x="1857" y="1893"/>
                  </a:cubicBezTo>
                  <a:lnTo>
                    <a:pt x="1500" y="1715"/>
                  </a:lnTo>
                  <a:lnTo>
                    <a:pt x="1500" y="1703"/>
                  </a:lnTo>
                  <a:lnTo>
                    <a:pt x="1500" y="1489"/>
                  </a:lnTo>
                  <a:cubicBezTo>
                    <a:pt x="1679" y="1358"/>
                    <a:pt x="1798" y="1131"/>
                    <a:pt x="1798" y="893"/>
                  </a:cubicBezTo>
                  <a:lnTo>
                    <a:pt x="1798" y="596"/>
                  </a:lnTo>
                  <a:cubicBezTo>
                    <a:pt x="1798" y="274"/>
                    <a:pt x="1536" y="0"/>
                    <a:pt x="1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9999"/>
                </a:solidFill>
              </a:endParaRPr>
            </a:p>
          </p:txBody>
        </p:sp>
        <p:sp>
          <p:nvSpPr>
            <p:cNvPr id="214" name="Google Shape;214;p31"/>
            <p:cNvSpPr/>
            <p:nvPr/>
          </p:nvSpPr>
          <p:spPr>
            <a:xfrm>
              <a:off x="6880289" y="3542403"/>
              <a:ext cx="68620" cy="153504"/>
            </a:xfrm>
            <a:custGeom>
              <a:rect b="b" l="l" r="r" t="t"/>
              <a:pathLst>
                <a:path extrusionOk="0" h="4823" w="2156">
                  <a:moveTo>
                    <a:pt x="1214" y="286"/>
                  </a:moveTo>
                  <a:cubicBezTo>
                    <a:pt x="1393" y="286"/>
                    <a:pt x="1524" y="417"/>
                    <a:pt x="1524" y="596"/>
                  </a:cubicBezTo>
                  <a:lnTo>
                    <a:pt x="1524" y="893"/>
                  </a:lnTo>
                  <a:cubicBezTo>
                    <a:pt x="1524" y="1143"/>
                    <a:pt x="1322" y="1358"/>
                    <a:pt x="1060" y="1358"/>
                  </a:cubicBezTo>
                  <a:cubicBezTo>
                    <a:pt x="810" y="1358"/>
                    <a:pt x="607" y="1143"/>
                    <a:pt x="607" y="893"/>
                  </a:cubicBezTo>
                  <a:lnTo>
                    <a:pt x="607" y="596"/>
                  </a:lnTo>
                  <a:cubicBezTo>
                    <a:pt x="607" y="417"/>
                    <a:pt x="738" y="286"/>
                    <a:pt x="917" y="286"/>
                  </a:cubicBezTo>
                  <a:close/>
                  <a:moveTo>
                    <a:pt x="1226" y="1643"/>
                  </a:moveTo>
                  <a:lnTo>
                    <a:pt x="1226" y="1715"/>
                  </a:lnTo>
                  <a:cubicBezTo>
                    <a:pt x="1226" y="1774"/>
                    <a:pt x="1238" y="1822"/>
                    <a:pt x="1274" y="1858"/>
                  </a:cubicBezTo>
                  <a:lnTo>
                    <a:pt x="1060" y="2036"/>
                  </a:lnTo>
                  <a:lnTo>
                    <a:pt x="857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917" y="0"/>
                  </a:moveTo>
                  <a:cubicBezTo>
                    <a:pt x="583" y="0"/>
                    <a:pt x="322" y="274"/>
                    <a:pt x="322" y="596"/>
                  </a:cubicBezTo>
                  <a:lnTo>
                    <a:pt x="322" y="893"/>
                  </a:lnTo>
                  <a:cubicBezTo>
                    <a:pt x="322" y="1143"/>
                    <a:pt x="441" y="1358"/>
                    <a:pt x="619" y="1489"/>
                  </a:cubicBezTo>
                  <a:lnTo>
                    <a:pt x="619" y="1703"/>
                  </a:lnTo>
                  <a:lnTo>
                    <a:pt x="619" y="1715"/>
                  </a:lnTo>
                  <a:lnTo>
                    <a:pt x="262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36" y="3870"/>
                    <a:pt x="107" y="3965"/>
                  </a:cubicBezTo>
                  <a:lnTo>
                    <a:pt x="262" y="4179"/>
                  </a:lnTo>
                  <a:cubicBezTo>
                    <a:pt x="286" y="4227"/>
                    <a:pt x="322" y="4298"/>
                    <a:pt x="322" y="4358"/>
                  </a:cubicBezTo>
                  <a:lnTo>
                    <a:pt x="322" y="4679"/>
                  </a:lnTo>
                  <a:cubicBezTo>
                    <a:pt x="322" y="4751"/>
                    <a:pt x="381" y="4822"/>
                    <a:pt x="464" y="4822"/>
                  </a:cubicBezTo>
                  <a:cubicBezTo>
                    <a:pt x="548" y="4822"/>
                    <a:pt x="619" y="4763"/>
                    <a:pt x="619" y="4679"/>
                  </a:cubicBezTo>
                  <a:lnTo>
                    <a:pt x="619" y="4358"/>
                  </a:lnTo>
                  <a:cubicBezTo>
                    <a:pt x="619" y="4239"/>
                    <a:pt x="583" y="4120"/>
                    <a:pt x="512" y="4036"/>
                  </a:cubicBezTo>
                  <a:lnTo>
                    <a:pt x="369" y="3810"/>
                  </a:lnTo>
                  <a:cubicBezTo>
                    <a:pt x="333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33" y="2179"/>
                    <a:pt x="393" y="2143"/>
                  </a:cubicBezTo>
                  <a:lnTo>
                    <a:pt x="643" y="2024"/>
                  </a:lnTo>
                  <a:lnTo>
                    <a:pt x="869" y="2251"/>
                  </a:lnTo>
                  <a:cubicBezTo>
                    <a:pt x="929" y="2310"/>
                    <a:pt x="1000" y="2334"/>
                    <a:pt x="1072" y="2334"/>
                  </a:cubicBezTo>
                  <a:cubicBezTo>
                    <a:pt x="1155" y="2334"/>
                    <a:pt x="1226" y="2310"/>
                    <a:pt x="1286" y="2251"/>
                  </a:cubicBezTo>
                  <a:lnTo>
                    <a:pt x="1512" y="2024"/>
                  </a:lnTo>
                  <a:lnTo>
                    <a:pt x="1762" y="2143"/>
                  </a:lnTo>
                  <a:cubicBezTo>
                    <a:pt x="1822" y="2179"/>
                    <a:pt x="1857" y="2239"/>
                    <a:pt x="1857" y="2298"/>
                  </a:cubicBezTo>
                  <a:lnTo>
                    <a:pt x="1857" y="3632"/>
                  </a:lnTo>
                  <a:cubicBezTo>
                    <a:pt x="1857" y="3691"/>
                    <a:pt x="1834" y="3751"/>
                    <a:pt x="1786" y="3810"/>
                  </a:cubicBezTo>
                  <a:lnTo>
                    <a:pt x="1643" y="4036"/>
                  </a:lnTo>
                  <a:cubicBezTo>
                    <a:pt x="1584" y="4144"/>
                    <a:pt x="1536" y="4239"/>
                    <a:pt x="1536" y="4358"/>
                  </a:cubicBezTo>
                  <a:lnTo>
                    <a:pt x="1536" y="4679"/>
                  </a:lnTo>
                  <a:cubicBezTo>
                    <a:pt x="1536" y="4751"/>
                    <a:pt x="1595" y="4822"/>
                    <a:pt x="1691" y="4822"/>
                  </a:cubicBezTo>
                  <a:cubicBezTo>
                    <a:pt x="1762" y="4822"/>
                    <a:pt x="1834" y="4763"/>
                    <a:pt x="1834" y="4679"/>
                  </a:cubicBezTo>
                  <a:lnTo>
                    <a:pt x="1834" y="4358"/>
                  </a:lnTo>
                  <a:cubicBezTo>
                    <a:pt x="1834" y="4298"/>
                    <a:pt x="1846" y="4239"/>
                    <a:pt x="1893" y="4179"/>
                  </a:cubicBezTo>
                  <a:lnTo>
                    <a:pt x="2048" y="3965"/>
                  </a:lnTo>
                  <a:cubicBezTo>
                    <a:pt x="2107" y="3858"/>
                    <a:pt x="2155" y="3751"/>
                    <a:pt x="2155" y="3632"/>
                  </a:cubicBezTo>
                  <a:lnTo>
                    <a:pt x="2155" y="2298"/>
                  </a:lnTo>
                  <a:cubicBezTo>
                    <a:pt x="2107" y="2120"/>
                    <a:pt x="2012" y="1965"/>
                    <a:pt x="1869" y="1893"/>
                  </a:cubicBezTo>
                  <a:lnTo>
                    <a:pt x="1512" y="1715"/>
                  </a:lnTo>
                  <a:lnTo>
                    <a:pt x="1512" y="1703"/>
                  </a:lnTo>
                  <a:lnTo>
                    <a:pt x="1512" y="1489"/>
                  </a:lnTo>
                  <a:cubicBezTo>
                    <a:pt x="1691" y="1358"/>
                    <a:pt x="1810" y="1131"/>
                    <a:pt x="1810" y="893"/>
                  </a:cubicBezTo>
                  <a:lnTo>
                    <a:pt x="1810" y="596"/>
                  </a:lnTo>
                  <a:cubicBezTo>
                    <a:pt x="1810" y="274"/>
                    <a:pt x="1536" y="0"/>
                    <a:pt x="1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9999"/>
                </a:solidFill>
              </a:endParaRPr>
            </a:p>
          </p:txBody>
        </p:sp>
        <p:sp>
          <p:nvSpPr>
            <p:cNvPr id="215" name="Google Shape;215;p31"/>
            <p:cNvSpPr/>
            <p:nvPr/>
          </p:nvSpPr>
          <p:spPr>
            <a:xfrm>
              <a:off x="6707084" y="3387403"/>
              <a:ext cx="261145" cy="183072"/>
            </a:xfrm>
            <a:custGeom>
              <a:rect b="b" l="l" r="r" t="t"/>
              <a:pathLst>
                <a:path extrusionOk="0" h="5752" w="8205">
                  <a:moveTo>
                    <a:pt x="2727" y="536"/>
                  </a:moveTo>
                  <a:cubicBezTo>
                    <a:pt x="2501" y="715"/>
                    <a:pt x="2311" y="953"/>
                    <a:pt x="2132" y="1227"/>
                  </a:cubicBezTo>
                  <a:cubicBezTo>
                    <a:pt x="2013" y="1417"/>
                    <a:pt x="1906" y="1608"/>
                    <a:pt x="1799" y="1822"/>
                  </a:cubicBezTo>
                  <a:lnTo>
                    <a:pt x="1013" y="1822"/>
                  </a:lnTo>
                  <a:cubicBezTo>
                    <a:pt x="1465" y="1239"/>
                    <a:pt x="2037" y="798"/>
                    <a:pt x="2727" y="536"/>
                  </a:cubicBezTo>
                  <a:close/>
                  <a:moveTo>
                    <a:pt x="3930" y="286"/>
                  </a:moveTo>
                  <a:lnTo>
                    <a:pt x="3930" y="1822"/>
                  </a:lnTo>
                  <a:lnTo>
                    <a:pt x="2120" y="1822"/>
                  </a:lnTo>
                  <a:cubicBezTo>
                    <a:pt x="2537" y="941"/>
                    <a:pt x="3192" y="358"/>
                    <a:pt x="3930" y="286"/>
                  </a:cubicBezTo>
                  <a:close/>
                  <a:moveTo>
                    <a:pt x="4216" y="286"/>
                  </a:moveTo>
                  <a:cubicBezTo>
                    <a:pt x="4954" y="346"/>
                    <a:pt x="5609" y="941"/>
                    <a:pt x="6025" y="1822"/>
                  </a:cubicBezTo>
                  <a:lnTo>
                    <a:pt x="4216" y="1822"/>
                  </a:lnTo>
                  <a:lnTo>
                    <a:pt x="4216" y="286"/>
                  </a:lnTo>
                  <a:close/>
                  <a:moveTo>
                    <a:pt x="5418" y="536"/>
                  </a:moveTo>
                  <a:cubicBezTo>
                    <a:pt x="6109" y="798"/>
                    <a:pt x="6704" y="1239"/>
                    <a:pt x="7133" y="1822"/>
                  </a:cubicBezTo>
                  <a:lnTo>
                    <a:pt x="6347" y="1822"/>
                  </a:lnTo>
                  <a:cubicBezTo>
                    <a:pt x="6252" y="1608"/>
                    <a:pt x="6133" y="1406"/>
                    <a:pt x="6014" y="1227"/>
                  </a:cubicBezTo>
                  <a:cubicBezTo>
                    <a:pt x="5835" y="953"/>
                    <a:pt x="5644" y="715"/>
                    <a:pt x="5418" y="536"/>
                  </a:cubicBezTo>
                  <a:close/>
                  <a:moveTo>
                    <a:pt x="1680" y="2108"/>
                  </a:moveTo>
                  <a:cubicBezTo>
                    <a:pt x="1489" y="2668"/>
                    <a:pt x="1370" y="3299"/>
                    <a:pt x="1358" y="3953"/>
                  </a:cubicBezTo>
                  <a:lnTo>
                    <a:pt x="275" y="3953"/>
                  </a:lnTo>
                  <a:cubicBezTo>
                    <a:pt x="299" y="3275"/>
                    <a:pt x="489" y="2656"/>
                    <a:pt x="822" y="2108"/>
                  </a:cubicBezTo>
                  <a:close/>
                  <a:moveTo>
                    <a:pt x="3930" y="2108"/>
                  </a:moveTo>
                  <a:lnTo>
                    <a:pt x="3930" y="3953"/>
                  </a:lnTo>
                  <a:lnTo>
                    <a:pt x="1644" y="3953"/>
                  </a:lnTo>
                  <a:cubicBezTo>
                    <a:pt x="1656" y="3275"/>
                    <a:pt x="1787" y="2656"/>
                    <a:pt x="2001" y="2108"/>
                  </a:cubicBezTo>
                  <a:close/>
                  <a:moveTo>
                    <a:pt x="6145" y="2108"/>
                  </a:moveTo>
                  <a:cubicBezTo>
                    <a:pt x="6359" y="2644"/>
                    <a:pt x="6490" y="3263"/>
                    <a:pt x="6502" y="3953"/>
                  </a:cubicBezTo>
                  <a:lnTo>
                    <a:pt x="4216" y="3953"/>
                  </a:lnTo>
                  <a:lnTo>
                    <a:pt x="4216" y="2108"/>
                  </a:lnTo>
                  <a:close/>
                  <a:moveTo>
                    <a:pt x="7311" y="2108"/>
                  </a:moveTo>
                  <a:cubicBezTo>
                    <a:pt x="7633" y="2644"/>
                    <a:pt x="7847" y="3263"/>
                    <a:pt x="7859" y="3953"/>
                  </a:cubicBezTo>
                  <a:lnTo>
                    <a:pt x="6787" y="3953"/>
                  </a:lnTo>
                  <a:cubicBezTo>
                    <a:pt x="6776" y="3299"/>
                    <a:pt x="6656" y="2668"/>
                    <a:pt x="6442" y="2108"/>
                  </a:cubicBezTo>
                  <a:close/>
                  <a:moveTo>
                    <a:pt x="4085" y="1"/>
                  </a:moveTo>
                  <a:cubicBezTo>
                    <a:pt x="2989" y="1"/>
                    <a:pt x="1965" y="429"/>
                    <a:pt x="1192" y="1191"/>
                  </a:cubicBezTo>
                  <a:cubicBezTo>
                    <a:pt x="418" y="1953"/>
                    <a:pt x="1" y="3001"/>
                    <a:pt x="1" y="4084"/>
                  </a:cubicBezTo>
                  <a:cubicBezTo>
                    <a:pt x="1" y="4632"/>
                    <a:pt x="108" y="5156"/>
                    <a:pt x="310" y="5656"/>
                  </a:cubicBezTo>
                  <a:cubicBezTo>
                    <a:pt x="337" y="5719"/>
                    <a:pt x="392" y="5748"/>
                    <a:pt x="443" y="5748"/>
                  </a:cubicBezTo>
                  <a:cubicBezTo>
                    <a:pt x="459" y="5748"/>
                    <a:pt x="475" y="5745"/>
                    <a:pt x="489" y="5739"/>
                  </a:cubicBezTo>
                  <a:cubicBezTo>
                    <a:pt x="560" y="5704"/>
                    <a:pt x="596" y="5620"/>
                    <a:pt x="560" y="5549"/>
                  </a:cubicBezTo>
                  <a:cubicBezTo>
                    <a:pt x="382" y="5144"/>
                    <a:pt x="299" y="4692"/>
                    <a:pt x="287" y="4227"/>
                  </a:cubicBezTo>
                  <a:lnTo>
                    <a:pt x="1370" y="4227"/>
                  </a:lnTo>
                  <a:lnTo>
                    <a:pt x="1370" y="4394"/>
                  </a:lnTo>
                  <a:cubicBezTo>
                    <a:pt x="1370" y="4465"/>
                    <a:pt x="1442" y="4525"/>
                    <a:pt x="1513" y="4525"/>
                  </a:cubicBezTo>
                  <a:cubicBezTo>
                    <a:pt x="1596" y="4525"/>
                    <a:pt x="1656" y="4454"/>
                    <a:pt x="1656" y="4382"/>
                  </a:cubicBezTo>
                  <a:lnTo>
                    <a:pt x="1656" y="4227"/>
                  </a:lnTo>
                  <a:lnTo>
                    <a:pt x="3942" y="4227"/>
                  </a:lnTo>
                  <a:lnTo>
                    <a:pt x="3942" y="4394"/>
                  </a:lnTo>
                  <a:cubicBezTo>
                    <a:pt x="3942" y="4465"/>
                    <a:pt x="4001" y="4549"/>
                    <a:pt x="4097" y="4549"/>
                  </a:cubicBezTo>
                  <a:cubicBezTo>
                    <a:pt x="4168" y="4549"/>
                    <a:pt x="4240" y="4489"/>
                    <a:pt x="4240" y="4394"/>
                  </a:cubicBezTo>
                  <a:lnTo>
                    <a:pt x="4240" y="4227"/>
                  </a:lnTo>
                  <a:lnTo>
                    <a:pt x="6537" y="4227"/>
                  </a:lnTo>
                  <a:lnTo>
                    <a:pt x="6537" y="4382"/>
                  </a:lnTo>
                  <a:cubicBezTo>
                    <a:pt x="6537" y="4454"/>
                    <a:pt x="6597" y="4525"/>
                    <a:pt x="6668" y="4525"/>
                  </a:cubicBezTo>
                  <a:cubicBezTo>
                    <a:pt x="6740" y="4525"/>
                    <a:pt x="6799" y="4465"/>
                    <a:pt x="6823" y="4394"/>
                  </a:cubicBezTo>
                  <a:lnTo>
                    <a:pt x="6823" y="4227"/>
                  </a:lnTo>
                  <a:lnTo>
                    <a:pt x="7907" y="4227"/>
                  </a:lnTo>
                  <a:cubicBezTo>
                    <a:pt x="7895" y="4692"/>
                    <a:pt x="7788" y="5120"/>
                    <a:pt x="7621" y="5549"/>
                  </a:cubicBezTo>
                  <a:cubicBezTo>
                    <a:pt x="7597" y="5632"/>
                    <a:pt x="7621" y="5704"/>
                    <a:pt x="7692" y="5739"/>
                  </a:cubicBezTo>
                  <a:cubicBezTo>
                    <a:pt x="7704" y="5751"/>
                    <a:pt x="7728" y="5751"/>
                    <a:pt x="7752" y="5751"/>
                  </a:cubicBezTo>
                  <a:cubicBezTo>
                    <a:pt x="7811" y="5751"/>
                    <a:pt x="7859" y="5716"/>
                    <a:pt x="7895" y="5656"/>
                  </a:cubicBezTo>
                  <a:cubicBezTo>
                    <a:pt x="8097" y="5168"/>
                    <a:pt x="8204" y="4632"/>
                    <a:pt x="8204" y="4084"/>
                  </a:cubicBezTo>
                  <a:cubicBezTo>
                    <a:pt x="8157" y="3001"/>
                    <a:pt x="7740" y="1965"/>
                    <a:pt x="6966" y="1191"/>
                  </a:cubicBezTo>
                  <a:cubicBezTo>
                    <a:pt x="6192" y="417"/>
                    <a:pt x="5168" y="1"/>
                    <a:pt x="4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9999"/>
                </a:solidFill>
              </a:endParaRPr>
            </a:p>
          </p:txBody>
        </p:sp>
      </p:grpSp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875" y="1871225"/>
            <a:ext cx="516800" cy="5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9399" y="1812674"/>
            <a:ext cx="605574" cy="60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370200" y="415650"/>
            <a:ext cx="87738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Collision Resolutions</a:t>
            </a:r>
            <a:endParaRPr sz="3400"/>
          </a:p>
        </p:txBody>
      </p:sp>
      <p:sp>
        <p:nvSpPr>
          <p:cNvPr id="223" name="Google Shape;223;p32"/>
          <p:cNvSpPr txBox="1"/>
          <p:nvPr/>
        </p:nvSpPr>
        <p:spPr>
          <a:xfrm>
            <a:off x="1262071" y="1182125"/>
            <a:ext cx="2410200" cy="40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Linear Probing</a:t>
            </a:r>
            <a:endParaRPr b="1" sz="1800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983971" y="1752875"/>
            <a:ext cx="2980200" cy="28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Better cache locality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Simple implementation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Primary clustering at high loads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5" name="Google Shape;225;p32"/>
          <p:cNvSpPr txBox="1"/>
          <p:nvPr/>
        </p:nvSpPr>
        <p:spPr>
          <a:xfrm>
            <a:off x="5384896" y="1182125"/>
            <a:ext cx="2410200" cy="40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Quadratic </a:t>
            </a:r>
            <a:r>
              <a:rPr b="1" lang="en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Probing</a:t>
            </a:r>
            <a:endParaRPr b="1" sz="1800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5106796" y="1752875"/>
            <a:ext cx="2980200" cy="28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Reduced clustering effects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Consistent performance across loads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Better worst-case guarantees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/>
          <p:nvPr/>
        </p:nvSpPr>
        <p:spPr>
          <a:xfrm>
            <a:off x="3209325" y="2393000"/>
            <a:ext cx="5802300" cy="182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3"/>
          <p:cNvSpPr/>
          <p:nvPr/>
        </p:nvSpPr>
        <p:spPr>
          <a:xfrm>
            <a:off x="5940575" y="1801075"/>
            <a:ext cx="531000" cy="61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3"/>
          <p:cNvSpPr/>
          <p:nvPr/>
        </p:nvSpPr>
        <p:spPr>
          <a:xfrm>
            <a:off x="7840025" y="1801075"/>
            <a:ext cx="476400" cy="61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3"/>
          <p:cNvSpPr/>
          <p:nvPr/>
        </p:nvSpPr>
        <p:spPr>
          <a:xfrm>
            <a:off x="4041183" y="1801076"/>
            <a:ext cx="531000" cy="61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3"/>
          <p:cNvSpPr txBox="1"/>
          <p:nvPr>
            <p:ph type="title"/>
          </p:nvPr>
        </p:nvSpPr>
        <p:spPr>
          <a:xfrm>
            <a:off x="370200" y="415650"/>
            <a:ext cx="87738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Performance Metrics</a:t>
            </a:r>
            <a:endParaRPr sz="3400"/>
          </a:p>
        </p:txBody>
      </p:sp>
      <p:sp>
        <p:nvSpPr>
          <p:cNvPr id="236" name="Google Shape;236;p33"/>
          <p:cNvSpPr txBox="1"/>
          <p:nvPr/>
        </p:nvSpPr>
        <p:spPr>
          <a:xfrm>
            <a:off x="430596" y="1388875"/>
            <a:ext cx="2410200" cy="40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Data Collections</a:t>
            </a:r>
            <a:endParaRPr b="1" sz="1800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152496" y="1959625"/>
            <a:ext cx="2980200" cy="28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All data were collected during insertion operations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Each URL query checks for existence before insertion.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3085975" y="3124691"/>
            <a:ext cx="24411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Average Number of Comparisons per Query</a:t>
            </a:r>
            <a:endParaRPr b="1" sz="15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5271450" y="3124700"/>
            <a:ext cx="1869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Maximum Comparisons per Query</a:t>
            </a:r>
            <a:endParaRPr b="1" sz="15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40" name="Google Shape;240;p33"/>
          <p:cNvSpPr txBox="1"/>
          <p:nvPr/>
        </p:nvSpPr>
        <p:spPr>
          <a:xfrm>
            <a:off x="7276865" y="3137657"/>
            <a:ext cx="15474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41" name="Google Shape;241;p33"/>
          <p:cNvSpPr/>
          <p:nvPr/>
        </p:nvSpPr>
        <p:spPr>
          <a:xfrm>
            <a:off x="4041179" y="2390910"/>
            <a:ext cx="531000" cy="58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1</a:t>
            </a:r>
            <a:endParaRPr sz="19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242" name="Google Shape;242;p33"/>
          <p:cNvSpPr/>
          <p:nvPr/>
        </p:nvSpPr>
        <p:spPr>
          <a:xfrm>
            <a:off x="5940600" y="2390900"/>
            <a:ext cx="531000" cy="58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2</a:t>
            </a:r>
            <a:endParaRPr sz="19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243" name="Google Shape;243;p33"/>
          <p:cNvSpPr/>
          <p:nvPr/>
        </p:nvSpPr>
        <p:spPr>
          <a:xfrm>
            <a:off x="7839899" y="2390900"/>
            <a:ext cx="476400" cy="58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3</a:t>
            </a:r>
            <a:endParaRPr sz="19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grpSp>
        <p:nvGrpSpPr>
          <p:cNvPr id="244" name="Google Shape;244;p33"/>
          <p:cNvGrpSpPr/>
          <p:nvPr/>
        </p:nvGrpSpPr>
        <p:grpSpPr>
          <a:xfrm>
            <a:off x="7906784" y="1920062"/>
            <a:ext cx="342887" cy="380619"/>
            <a:chOff x="5823294" y="2309751"/>
            <a:chExt cx="315327" cy="314978"/>
          </a:xfrm>
        </p:grpSpPr>
        <p:sp>
          <p:nvSpPr>
            <p:cNvPr id="245" name="Google Shape;245;p33"/>
            <p:cNvSpPr/>
            <p:nvPr/>
          </p:nvSpPr>
          <p:spPr>
            <a:xfrm>
              <a:off x="5823294" y="2309751"/>
              <a:ext cx="315327" cy="314978"/>
            </a:xfrm>
            <a:custGeom>
              <a:rect b="b" l="l" r="r" t="t"/>
              <a:pathLst>
                <a:path extrusionOk="0" h="9919" w="9930">
                  <a:moveTo>
                    <a:pt x="4953" y="0"/>
                  </a:moveTo>
                  <a:cubicBezTo>
                    <a:pt x="3632" y="0"/>
                    <a:pt x="2381" y="524"/>
                    <a:pt x="1465" y="1465"/>
                  </a:cubicBezTo>
                  <a:cubicBezTo>
                    <a:pt x="524" y="2405"/>
                    <a:pt x="0" y="3656"/>
                    <a:pt x="0" y="4965"/>
                  </a:cubicBezTo>
                  <a:cubicBezTo>
                    <a:pt x="0" y="6275"/>
                    <a:pt x="524" y="7537"/>
                    <a:pt x="1465" y="8466"/>
                  </a:cubicBezTo>
                  <a:cubicBezTo>
                    <a:pt x="2393" y="9394"/>
                    <a:pt x="3643" y="9918"/>
                    <a:pt x="4953" y="9918"/>
                  </a:cubicBezTo>
                  <a:cubicBezTo>
                    <a:pt x="6263" y="9918"/>
                    <a:pt x="7537" y="9394"/>
                    <a:pt x="8454" y="8466"/>
                  </a:cubicBezTo>
                  <a:cubicBezTo>
                    <a:pt x="9394" y="7525"/>
                    <a:pt x="9918" y="6275"/>
                    <a:pt x="9918" y="4965"/>
                  </a:cubicBezTo>
                  <a:cubicBezTo>
                    <a:pt x="9930" y="4858"/>
                    <a:pt x="9930" y="4775"/>
                    <a:pt x="9930" y="4680"/>
                  </a:cubicBezTo>
                  <a:cubicBezTo>
                    <a:pt x="9930" y="4613"/>
                    <a:pt x="9869" y="4547"/>
                    <a:pt x="9803" y="4547"/>
                  </a:cubicBezTo>
                  <a:cubicBezTo>
                    <a:pt x="9798" y="4547"/>
                    <a:pt x="9792" y="4548"/>
                    <a:pt x="9787" y="4549"/>
                  </a:cubicBezTo>
                  <a:cubicBezTo>
                    <a:pt x="9704" y="4549"/>
                    <a:pt x="9632" y="4620"/>
                    <a:pt x="9644" y="4691"/>
                  </a:cubicBezTo>
                  <a:lnTo>
                    <a:pt x="9644" y="4953"/>
                  </a:lnTo>
                  <a:cubicBezTo>
                    <a:pt x="9644" y="6204"/>
                    <a:pt x="9156" y="7358"/>
                    <a:pt x="8275" y="8251"/>
                  </a:cubicBezTo>
                  <a:cubicBezTo>
                    <a:pt x="7394" y="9144"/>
                    <a:pt x="6227" y="9621"/>
                    <a:pt x="4977" y="9621"/>
                  </a:cubicBezTo>
                  <a:cubicBezTo>
                    <a:pt x="3727" y="9621"/>
                    <a:pt x="2560" y="9132"/>
                    <a:pt x="1667" y="8251"/>
                  </a:cubicBezTo>
                  <a:cubicBezTo>
                    <a:pt x="774" y="7370"/>
                    <a:pt x="298" y="6204"/>
                    <a:pt x="298" y="4953"/>
                  </a:cubicBezTo>
                  <a:cubicBezTo>
                    <a:pt x="298" y="3703"/>
                    <a:pt x="786" y="2536"/>
                    <a:pt x="1667" y="1643"/>
                  </a:cubicBezTo>
                  <a:cubicBezTo>
                    <a:pt x="2548" y="750"/>
                    <a:pt x="3727" y="274"/>
                    <a:pt x="4977" y="274"/>
                  </a:cubicBezTo>
                  <a:cubicBezTo>
                    <a:pt x="6072" y="274"/>
                    <a:pt x="7144" y="667"/>
                    <a:pt x="7977" y="1382"/>
                  </a:cubicBezTo>
                  <a:cubicBezTo>
                    <a:pt x="8811" y="2072"/>
                    <a:pt x="9382" y="3048"/>
                    <a:pt x="9561" y="4120"/>
                  </a:cubicBezTo>
                  <a:cubicBezTo>
                    <a:pt x="9572" y="4185"/>
                    <a:pt x="9632" y="4241"/>
                    <a:pt x="9697" y="4241"/>
                  </a:cubicBezTo>
                  <a:cubicBezTo>
                    <a:pt x="9703" y="4241"/>
                    <a:pt x="9709" y="4240"/>
                    <a:pt x="9716" y="4239"/>
                  </a:cubicBezTo>
                  <a:cubicBezTo>
                    <a:pt x="9799" y="4215"/>
                    <a:pt x="9858" y="4144"/>
                    <a:pt x="9835" y="4072"/>
                  </a:cubicBezTo>
                  <a:cubicBezTo>
                    <a:pt x="9632" y="2941"/>
                    <a:pt x="9037" y="1917"/>
                    <a:pt x="8156" y="1167"/>
                  </a:cubicBezTo>
                  <a:cubicBezTo>
                    <a:pt x="7263" y="405"/>
                    <a:pt x="6132" y="0"/>
                    <a:pt x="49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3"/>
            <p:cNvSpPr/>
            <p:nvPr/>
          </p:nvSpPr>
          <p:spPr>
            <a:xfrm>
              <a:off x="5846348" y="2332805"/>
              <a:ext cx="268457" cy="268489"/>
            </a:xfrm>
            <a:custGeom>
              <a:rect b="b" l="l" r="r" t="t"/>
              <a:pathLst>
                <a:path extrusionOk="0" h="8455" w="8454">
                  <a:moveTo>
                    <a:pt x="4227" y="1"/>
                  </a:moveTo>
                  <a:cubicBezTo>
                    <a:pt x="3632" y="1"/>
                    <a:pt x="3060" y="120"/>
                    <a:pt x="2501" y="370"/>
                  </a:cubicBezTo>
                  <a:cubicBezTo>
                    <a:pt x="1989" y="608"/>
                    <a:pt x="1512" y="929"/>
                    <a:pt x="1120" y="1358"/>
                  </a:cubicBezTo>
                  <a:cubicBezTo>
                    <a:pt x="1060" y="1418"/>
                    <a:pt x="1072" y="1513"/>
                    <a:pt x="1131" y="1572"/>
                  </a:cubicBezTo>
                  <a:cubicBezTo>
                    <a:pt x="1158" y="1599"/>
                    <a:pt x="1192" y="1611"/>
                    <a:pt x="1227" y="1611"/>
                  </a:cubicBezTo>
                  <a:cubicBezTo>
                    <a:pt x="1270" y="1611"/>
                    <a:pt x="1313" y="1593"/>
                    <a:pt x="1346" y="1560"/>
                  </a:cubicBezTo>
                  <a:cubicBezTo>
                    <a:pt x="1715" y="1156"/>
                    <a:pt x="2155" y="846"/>
                    <a:pt x="2644" y="632"/>
                  </a:cubicBezTo>
                  <a:cubicBezTo>
                    <a:pt x="3144" y="405"/>
                    <a:pt x="3679" y="286"/>
                    <a:pt x="4251" y="286"/>
                  </a:cubicBezTo>
                  <a:cubicBezTo>
                    <a:pt x="6418" y="286"/>
                    <a:pt x="8192" y="2060"/>
                    <a:pt x="8192" y="4239"/>
                  </a:cubicBezTo>
                  <a:cubicBezTo>
                    <a:pt x="8192" y="6406"/>
                    <a:pt x="6418" y="8180"/>
                    <a:pt x="4251" y="8180"/>
                  </a:cubicBezTo>
                  <a:cubicBezTo>
                    <a:pt x="2072" y="8180"/>
                    <a:pt x="298" y="6406"/>
                    <a:pt x="298" y="4239"/>
                  </a:cubicBezTo>
                  <a:cubicBezTo>
                    <a:pt x="298" y="3465"/>
                    <a:pt x="524" y="2703"/>
                    <a:pt x="965" y="2060"/>
                  </a:cubicBezTo>
                  <a:cubicBezTo>
                    <a:pt x="1001" y="1989"/>
                    <a:pt x="989" y="1882"/>
                    <a:pt x="917" y="1846"/>
                  </a:cubicBezTo>
                  <a:cubicBezTo>
                    <a:pt x="893" y="1827"/>
                    <a:pt x="862" y="1818"/>
                    <a:pt x="830" y="1818"/>
                  </a:cubicBezTo>
                  <a:cubicBezTo>
                    <a:pt x="781" y="1818"/>
                    <a:pt x="731" y="1839"/>
                    <a:pt x="703" y="1882"/>
                  </a:cubicBezTo>
                  <a:cubicBezTo>
                    <a:pt x="250" y="2584"/>
                    <a:pt x="0" y="3394"/>
                    <a:pt x="0" y="4227"/>
                  </a:cubicBezTo>
                  <a:cubicBezTo>
                    <a:pt x="0" y="5358"/>
                    <a:pt x="453" y="6406"/>
                    <a:pt x="1239" y="7216"/>
                  </a:cubicBezTo>
                  <a:cubicBezTo>
                    <a:pt x="2048" y="8014"/>
                    <a:pt x="3096" y="8454"/>
                    <a:pt x="4227" y="8454"/>
                  </a:cubicBezTo>
                  <a:cubicBezTo>
                    <a:pt x="5358" y="8454"/>
                    <a:pt x="6418" y="8002"/>
                    <a:pt x="7227" y="7216"/>
                  </a:cubicBezTo>
                  <a:cubicBezTo>
                    <a:pt x="8025" y="6430"/>
                    <a:pt x="8454" y="5358"/>
                    <a:pt x="8454" y="4227"/>
                  </a:cubicBezTo>
                  <a:cubicBezTo>
                    <a:pt x="8454" y="3096"/>
                    <a:pt x="8013" y="2037"/>
                    <a:pt x="7227" y="1227"/>
                  </a:cubicBezTo>
                  <a:cubicBezTo>
                    <a:pt x="6418" y="429"/>
                    <a:pt x="5358" y="1"/>
                    <a:pt x="4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3"/>
            <p:cNvSpPr/>
            <p:nvPr/>
          </p:nvSpPr>
          <p:spPr>
            <a:xfrm>
              <a:off x="5869402" y="2462111"/>
              <a:ext cx="15909" cy="9495"/>
            </a:xfrm>
            <a:custGeom>
              <a:rect b="b" l="l" r="r" t="t"/>
              <a:pathLst>
                <a:path extrusionOk="0" h="299" w="501">
                  <a:moveTo>
                    <a:pt x="144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27"/>
                    <a:pt x="60" y="298"/>
                    <a:pt x="144" y="298"/>
                  </a:cubicBezTo>
                  <a:lnTo>
                    <a:pt x="358" y="298"/>
                  </a:lnTo>
                  <a:cubicBezTo>
                    <a:pt x="429" y="298"/>
                    <a:pt x="501" y="239"/>
                    <a:pt x="501" y="155"/>
                  </a:cubicBezTo>
                  <a:cubicBezTo>
                    <a:pt x="501" y="60"/>
                    <a:pt x="441" y="1"/>
                    <a:pt x="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3"/>
            <p:cNvSpPr/>
            <p:nvPr/>
          </p:nvSpPr>
          <p:spPr>
            <a:xfrm>
              <a:off x="5976416" y="2354748"/>
              <a:ext cx="116858" cy="116858"/>
            </a:xfrm>
            <a:custGeom>
              <a:rect b="b" l="l" r="r" t="t"/>
              <a:pathLst>
                <a:path extrusionOk="0" h="3680" w="368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lnTo>
                    <a:pt x="0" y="3536"/>
                  </a:lnTo>
                  <a:cubicBezTo>
                    <a:pt x="0" y="3608"/>
                    <a:pt x="60" y="3679"/>
                    <a:pt x="155" y="3679"/>
                  </a:cubicBezTo>
                  <a:lnTo>
                    <a:pt x="3536" y="3679"/>
                  </a:lnTo>
                  <a:cubicBezTo>
                    <a:pt x="3608" y="3679"/>
                    <a:pt x="3679" y="3620"/>
                    <a:pt x="3679" y="3536"/>
                  </a:cubicBezTo>
                  <a:cubicBezTo>
                    <a:pt x="3679" y="3441"/>
                    <a:pt x="3620" y="3382"/>
                    <a:pt x="3536" y="3382"/>
                  </a:cubicBezTo>
                  <a:lnTo>
                    <a:pt x="298" y="3382"/>
                  </a:lnTo>
                  <a:lnTo>
                    <a:pt x="298" y="155"/>
                  </a:lnTo>
                  <a:cubicBezTo>
                    <a:pt x="298" y="84"/>
                    <a:pt x="238" y="0"/>
                    <a:pt x="1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3"/>
            <p:cNvSpPr/>
            <p:nvPr/>
          </p:nvSpPr>
          <p:spPr>
            <a:xfrm>
              <a:off x="5976416" y="2562679"/>
              <a:ext cx="9463" cy="16290"/>
            </a:xfrm>
            <a:custGeom>
              <a:rect b="b" l="l" r="r" t="t"/>
              <a:pathLst>
                <a:path extrusionOk="0" h="513" w="298">
                  <a:moveTo>
                    <a:pt x="155" y="1"/>
                  </a:moveTo>
                  <a:cubicBezTo>
                    <a:pt x="60" y="1"/>
                    <a:pt x="0" y="60"/>
                    <a:pt x="0" y="155"/>
                  </a:cubicBezTo>
                  <a:lnTo>
                    <a:pt x="0" y="358"/>
                  </a:lnTo>
                  <a:cubicBezTo>
                    <a:pt x="0" y="441"/>
                    <a:pt x="60" y="513"/>
                    <a:pt x="155" y="513"/>
                  </a:cubicBezTo>
                  <a:cubicBezTo>
                    <a:pt x="238" y="513"/>
                    <a:pt x="298" y="453"/>
                    <a:pt x="298" y="358"/>
                  </a:cubicBezTo>
                  <a:lnTo>
                    <a:pt x="298" y="155"/>
                  </a:lnTo>
                  <a:cubicBezTo>
                    <a:pt x="298" y="84"/>
                    <a:pt x="238" y="1"/>
                    <a:pt x="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3"/>
            <p:cNvSpPr/>
            <p:nvPr/>
          </p:nvSpPr>
          <p:spPr>
            <a:xfrm>
              <a:off x="5900395" y="2386217"/>
              <a:ext cx="15179" cy="13909"/>
            </a:xfrm>
            <a:custGeom>
              <a:rect b="b" l="l" r="r" t="t"/>
              <a:pathLst>
                <a:path extrusionOk="0" h="438" w="478">
                  <a:moveTo>
                    <a:pt x="168" y="0"/>
                  </a:moveTo>
                  <a:cubicBezTo>
                    <a:pt x="129" y="0"/>
                    <a:pt x="90" y="15"/>
                    <a:pt x="61" y="45"/>
                  </a:cubicBezTo>
                  <a:cubicBezTo>
                    <a:pt x="1" y="105"/>
                    <a:pt x="1" y="188"/>
                    <a:pt x="61" y="247"/>
                  </a:cubicBezTo>
                  <a:lnTo>
                    <a:pt x="215" y="402"/>
                  </a:lnTo>
                  <a:cubicBezTo>
                    <a:pt x="239" y="426"/>
                    <a:pt x="275" y="438"/>
                    <a:pt x="311" y="438"/>
                  </a:cubicBezTo>
                  <a:cubicBezTo>
                    <a:pt x="358" y="438"/>
                    <a:pt x="394" y="426"/>
                    <a:pt x="418" y="402"/>
                  </a:cubicBezTo>
                  <a:cubicBezTo>
                    <a:pt x="477" y="343"/>
                    <a:pt x="477" y="247"/>
                    <a:pt x="418" y="188"/>
                  </a:cubicBezTo>
                  <a:lnTo>
                    <a:pt x="275" y="45"/>
                  </a:lnTo>
                  <a:cubicBezTo>
                    <a:pt x="245" y="15"/>
                    <a:pt x="206" y="0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3"/>
            <p:cNvSpPr/>
            <p:nvPr/>
          </p:nvSpPr>
          <p:spPr>
            <a:xfrm>
              <a:off x="6047484" y="2533655"/>
              <a:ext cx="15147" cy="13940"/>
            </a:xfrm>
            <a:custGeom>
              <a:rect b="b" l="l" r="r" t="t"/>
              <a:pathLst>
                <a:path extrusionOk="0" h="439" w="477">
                  <a:moveTo>
                    <a:pt x="161" y="1"/>
                  </a:moveTo>
                  <a:cubicBezTo>
                    <a:pt x="126" y="1"/>
                    <a:pt x="90" y="16"/>
                    <a:pt x="60" y="46"/>
                  </a:cubicBezTo>
                  <a:cubicBezTo>
                    <a:pt x="1" y="93"/>
                    <a:pt x="1" y="188"/>
                    <a:pt x="60" y="248"/>
                  </a:cubicBezTo>
                  <a:lnTo>
                    <a:pt x="203" y="391"/>
                  </a:lnTo>
                  <a:cubicBezTo>
                    <a:pt x="239" y="427"/>
                    <a:pt x="262" y="438"/>
                    <a:pt x="310" y="438"/>
                  </a:cubicBezTo>
                  <a:cubicBezTo>
                    <a:pt x="358" y="438"/>
                    <a:pt x="382" y="427"/>
                    <a:pt x="417" y="391"/>
                  </a:cubicBezTo>
                  <a:cubicBezTo>
                    <a:pt x="477" y="343"/>
                    <a:pt x="477" y="248"/>
                    <a:pt x="417" y="188"/>
                  </a:cubicBezTo>
                  <a:lnTo>
                    <a:pt x="262" y="46"/>
                  </a:lnTo>
                  <a:cubicBezTo>
                    <a:pt x="233" y="16"/>
                    <a:pt x="197" y="1"/>
                    <a:pt x="1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3"/>
            <p:cNvSpPr/>
            <p:nvPr/>
          </p:nvSpPr>
          <p:spPr>
            <a:xfrm>
              <a:off x="6047484" y="2386217"/>
              <a:ext cx="15147" cy="13909"/>
            </a:xfrm>
            <a:custGeom>
              <a:rect b="b" l="l" r="r" t="t"/>
              <a:pathLst>
                <a:path extrusionOk="0" h="438" w="477">
                  <a:moveTo>
                    <a:pt x="310" y="0"/>
                  </a:moveTo>
                  <a:cubicBezTo>
                    <a:pt x="271" y="0"/>
                    <a:pt x="233" y="15"/>
                    <a:pt x="203" y="45"/>
                  </a:cubicBezTo>
                  <a:lnTo>
                    <a:pt x="60" y="188"/>
                  </a:lnTo>
                  <a:cubicBezTo>
                    <a:pt x="1" y="247"/>
                    <a:pt x="1" y="343"/>
                    <a:pt x="60" y="402"/>
                  </a:cubicBezTo>
                  <a:cubicBezTo>
                    <a:pt x="84" y="426"/>
                    <a:pt x="120" y="438"/>
                    <a:pt x="167" y="438"/>
                  </a:cubicBezTo>
                  <a:cubicBezTo>
                    <a:pt x="203" y="438"/>
                    <a:pt x="239" y="426"/>
                    <a:pt x="262" y="402"/>
                  </a:cubicBezTo>
                  <a:lnTo>
                    <a:pt x="417" y="247"/>
                  </a:lnTo>
                  <a:cubicBezTo>
                    <a:pt x="477" y="188"/>
                    <a:pt x="477" y="105"/>
                    <a:pt x="417" y="45"/>
                  </a:cubicBezTo>
                  <a:cubicBezTo>
                    <a:pt x="387" y="15"/>
                    <a:pt x="349" y="0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3"/>
            <p:cNvSpPr/>
            <p:nvPr/>
          </p:nvSpPr>
          <p:spPr>
            <a:xfrm>
              <a:off x="5900395" y="2533655"/>
              <a:ext cx="15179" cy="13940"/>
            </a:xfrm>
            <a:custGeom>
              <a:rect b="b" l="l" r="r" t="t"/>
              <a:pathLst>
                <a:path extrusionOk="0" h="439" w="478">
                  <a:moveTo>
                    <a:pt x="316" y="1"/>
                  </a:moveTo>
                  <a:cubicBezTo>
                    <a:pt x="281" y="1"/>
                    <a:pt x="245" y="16"/>
                    <a:pt x="215" y="46"/>
                  </a:cubicBezTo>
                  <a:lnTo>
                    <a:pt x="61" y="188"/>
                  </a:lnTo>
                  <a:cubicBezTo>
                    <a:pt x="1" y="248"/>
                    <a:pt x="1" y="343"/>
                    <a:pt x="61" y="403"/>
                  </a:cubicBezTo>
                  <a:cubicBezTo>
                    <a:pt x="96" y="427"/>
                    <a:pt x="120" y="438"/>
                    <a:pt x="168" y="438"/>
                  </a:cubicBezTo>
                  <a:cubicBezTo>
                    <a:pt x="215" y="438"/>
                    <a:pt x="239" y="427"/>
                    <a:pt x="275" y="403"/>
                  </a:cubicBezTo>
                  <a:lnTo>
                    <a:pt x="418" y="248"/>
                  </a:lnTo>
                  <a:cubicBezTo>
                    <a:pt x="477" y="188"/>
                    <a:pt x="477" y="105"/>
                    <a:pt x="418" y="46"/>
                  </a:cubicBezTo>
                  <a:cubicBezTo>
                    <a:pt x="388" y="16"/>
                    <a:pt x="352" y="1"/>
                    <a:pt x="3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3"/>
            <p:cNvSpPr/>
            <p:nvPr/>
          </p:nvSpPr>
          <p:spPr>
            <a:xfrm>
              <a:off x="5877341" y="2420639"/>
              <a:ext cx="16671" cy="11654"/>
            </a:xfrm>
            <a:custGeom>
              <a:rect b="b" l="l" r="r" t="t"/>
              <a:pathLst>
                <a:path extrusionOk="0" h="367" w="525">
                  <a:moveTo>
                    <a:pt x="167" y="0"/>
                  </a:moveTo>
                  <a:cubicBezTo>
                    <a:pt x="106" y="0"/>
                    <a:pt x="52" y="29"/>
                    <a:pt x="25" y="92"/>
                  </a:cubicBezTo>
                  <a:cubicBezTo>
                    <a:pt x="1" y="164"/>
                    <a:pt x="25" y="247"/>
                    <a:pt x="108" y="283"/>
                  </a:cubicBezTo>
                  <a:lnTo>
                    <a:pt x="298" y="354"/>
                  </a:lnTo>
                  <a:cubicBezTo>
                    <a:pt x="310" y="366"/>
                    <a:pt x="346" y="366"/>
                    <a:pt x="358" y="366"/>
                  </a:cubicBezTo>
                  <a:cubicBezTo>
                    <a:pt x="417" y="366"/>
                    <a:pt x="465" y="342"/>
                    <a:pt x="489" y="283"/>
                  </a:cubicBezTo>
                  <a:cubicBezTo>
                    <a:pt x="525" y="187"/>
                    <a:pt x="489" y="116"/>
                    <a:pt x="417" y="92"/>
                  </a:cubicBezTo>
                  <a:lnTo>
                    <a:pt x="227" y="9"/>
                  </a:lnTo>
                  <a:cubicBezTo>
                    <a:pt x="207" y="3"/>
                    <a:pt x="186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3"/>
            <p:cNvSpPr/>
            <p:nvPr/>
          </p:nvSpPr>
          <p:spPr>
            <a:xfrm>
              <a:off x="6068665" y="2501519"/>
              <a:ext cx="16671" cy="11654"/>
            </a:xfrm>
            <a:custGeom>
              <a:rect b="b" l="l" r="r" t="t"/>
              <a:pathLst>
                <a:path extrusionOk="0" h="367" w="525">
                  <a:moveTo>
                    <a:pt x="170" y="1"/>
                  </a:moveTo>
                  <a:cubicBezTo>
                    <a:pt x="112" y="1"/>
                    <a:pt x="54" y="28"/>
                    <a:pt x="36" y="81"/>
                  </a:cubicBezTo>
                  <a:cubicBezTo>
                    <a:pt x="0" y="165"/>
                    <a:pt x="36" y="248"/>
                    <a:pt x="107" y="284"/>
                  </a:cubicBezTo>
                  <a:lnTo>
                    <a:pt x="298" y="355"/>
                  </a:lnTo>
                  <a:cubicBezTo>
                    <a:pt x="310" y="367"/>
                    <a:pt x="346" y="367"/>
                    <a:pt x="357" y="367"/>
                  </a:cubicBezTo>
                  <a:cubicBezTo>
                    <a:pt x="417" y="367"/>
                    <a:pt x="465" y="343"/>
                    <a:pt x="488" y="284"/>
                  </a:cubicBezTo>
                  <a:cubicBezTo>
                    <a:pt x="524" y="200"/>
                    <a:pt x="488" y="117"/>
                    <a:pt x="417" y="81"/>
                  </a:cubicBezTo>
                  <a:lnTo>
                    <a:pt x="226" y="10"/>
                  </a:lnTo>
                  <a:cubicBezTo>
                    <a:pt x="209" y="4"/>
                    <a:pt x="189" y="1"/>
                    <a:pt x="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3"/>
            <p:cNvSpPr/>
            <p:nvPr/>
          </p:nvSpPr>
          <p:spPr>
            <a:xfrm>
              <a:off x="6015729" y="2363353"/>
              <a:ext cx="12893" cy="15623"/>
            </a:xfrm>
            <a:custGeom>
              <a:rect b="b" l="l" r="r" t="t"/>
              <a:pathLst>
                <a:path extrusionOk="0" h="492" w="406">
                  <a:moveTo>
                    <a:pt x="237" y="1"/>
                  </a:moveTo>
                  <a:cubicBezTo>
                    <a:pt x="181" y="1"/>
                    <a:pt x="125" y="34"/>
                    <a:pt x="108" y="86"/>
                  </a:cubicBezTo>
                  <a:lnTo>
                    <a:pt x="36" y="277"/>
                  </a:lnTo>
                  <a:cubicBezTo>
                    <a:pt x="0" y="360"/>
                    <a:pt x="36" y="444"/>
                    <a:pt x="108" y="479"/>
                  </a:cubicBezTo>
                  <a:cubicBezTo>
                    <a:pt x="119" y="479"/>
                    <a:pt x="131" y="491"/>
                    <a:pt x="167" y="491"/>
                  </a:cubicBezTo>
                  <a:cubicBezTo>
                    <a:pt x="227" y="491"/>
                    <a:pt x="274" y="467"/>
                    <a:pt x="298" y="396"/>
                  </a:cubicBezTo>
                  <a:lnTo>
                    <a:pt x="369" y="205"/>
                  </a:lnTo>
                  <a:cubicBezTo>
                    <a:pt x="405" y="134"/>
                    <a:pt x="369" y="39"/>
                    <a:pt x="298" y="15"/>
                  </a:cubicBezTo>
                  <a:cubicBezTo>
                    <a:pt x="279" y="5"/>
                    <a:pt x="258" y="1"/>
                    <a:pt x="2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3"/>
            <p:cNvSpPr/>
            <p:nvPr/>
          </p:nvSpPr>
          <p:spPr>
            <a:xfrm>
              <a:off x="5934055" y="2554836"/>
              <a:ext cx="13274" cy="15433"/>
            </a:xfrm>
            <a:custGeom>
              <a:rect b="b" l="l" r="r" t="t"/>
              <a:pathLst>
                <a:path extrusionOk="0" h="486" w="418">
                  <a:moveTo>
                    <a:pt x="255" y="1"/>
                  </a:moveTo>
                  <a:cubicBezTo>
                    <a:pt x="197" y="1"/>
                    <a:pt x="138" y="30"/>
                    <a:pt x="120" y="93"/>
                  </a:cubicBezTo>
                  <a:lnTo>
                    <a:pt x="48" y="283"/>
                  </a:lnTo>
                  <a:cubicBezTo>
                    <a:pt x="1" y="355"/>
                    <a:pt x="48" y="450"/>
                    <a:pt x="120" y="474"/>
                  </a:cubicBezTo>
                  <a:cubicBezTo>
                    <a:pt x="132" y="486"/>
                    <a:pt x="167" y="486"/>
                    <a:pt x="179" y="486"/>
                  </a:cubicBezTo>
                  <a:cubicBezTo>
                    <a:pt x="239" y="486"/>
                    <a:pt x="286" y="462"/>
                    <a:pt x="310" y="402"/>
                  </a:cubicBezTo>
                  <a:lnTo>
                    <a:pt x="382" y="212"/>
                  </a:lnTo>
                  <a:cubicBezTo>
                    <a:pt x="417" y="129"/>
                    <a:pt x="382" y="45"/>
                    <a:pt x="310" y="10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3"/>
            <p:cNvSpPr/>
            <p:nvPr/>
          </p:nvSpPr>
          <p:spPr>
            <a:xfrm>
              <a:off x="5935960" y="2362401"/>
              <a:ext cx="12861" cy="15814"/>
            </a:xfrm>
            <a:custGeom>
              <a:rect b="b" l="l" r="r" t="t"/>
              <a:pathLst>
                <a:path extrusionOk="0" h="498" w="405">
                  <a:moveTo>
                    <a:pt x="161" y="1"/>
                  </a:moveTo>
                  <a:cubicBezTo>
                    <a:pt x="143" y="1"/>
                    <a:pt x="125" y="3"/>
                    <a:pt x="107" y="9"/>
                  </a:cubicBezTo>
                  <a:cubicBezTo>
                    <a:pt x="24" y="45"/>
                    <a:pt x="0" y="128"/>
                    <a:pt x="24" y="212"/>
                  </a:cubicBezTo>
                  <a:lnTo>
                    <a:pt x="107" y="402"/>
                  </a:lnTo>
                  <a:cubicBezTo>
                    <a:pt x="131" y="462"/>
                    <a:pt x="191" y="497"/>
                    <a:pt x="238" y="497"/>
                  </a:cubicBezTo>
                  <a:cubicBezTo>
                    <a:pt x="250" y="497"/>
                    <a:pt x="262" y="497"/>
                    <a:pt x="298" y="474"/>
                  </a:cubicBezTo>
                  <a:cubicBezTo>
                    <a:pt x="369" y="450"/>
                    <a:pt x="405" y="355"/>
                    <a:pt x="369" y="283"/>
                  </a:cubicBezTo>
                  <a:lnTo>
                    <a:pt x="298" y="93"/>
                  </a:lnTo>
                  <a:cubicBezTo>
                    <a:pt x="271" y="29"/>
                    <a:pt x="216" y="1"/>
                    <a:pt x="1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3"/>
            <p:cNvSpPr/>
            <p:nvPr/>
          </p:nvSpPr>
          <p:spPr>
            <a:xfrm>
              <a:off x="6013824" y="2555820"/>
              <a:ext cx="12893" cy="15592"/>
            </a:xfrm>
            <a:custGeom>
              <a:rect b="b" l="l" r="r" t="t"/>
              <a:pathLst>
                <a:path extrusionOk="0" h="491" w="406">
                  <a:moveTo>
                    <a:pt x="167" y="0"/>
                  </a:moveTo>
                  <a:cubicBezTo>
                    <a:pt x="147" y="0"/>
                    <a:pt x="127" y="5"/>
                    <a:pt x="108" y="14"/>
                  </a:cubicBezTo>
                  <a:cubicBezTo>
                    <a:pt x="37" y="38"/>
                    <a:pt x="1" y="133"/>
                    <a:pt x="37" y="205"/>
                  </a:cubicBezTo>
                  <a:lnTo>
                    <a:pt x="108" y="395"/>
                  </a:lnTo>
                  <a:cubicBezTo>
                    <a:pt x="132" y="455"/>
                    <a:pt x="179" y="491"/>
                    <a:pt x="239" y="491"/>
                  </a:cubicBezTo>
                  <a:cubicBezTo>
                    <a:pt x="251" y="491"/>
                    <a:pt x="275" y="491"/>
                    <a:pt x="299" y="479"/>
                  </a:cubicBezTo>
                  <a:cubicBezTo>
                    <a:pt x="370" y="443"/>
                    <a:pt x="406" y="360"/>
                    <a:pt x="370" y="276"/>
                  </a:cubicBezTo>
                  <a:lnTo>
                    <a:pt x="299" y="86"/>
                  </a:lnTo>
                  <a:cubicBezTo>
                    <a:pt x="272" y="33"/>
                    <a:pt x="221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3"/>
            <p:cNvSpPr/>
            <p:nvPr/>
          </p:nvSpPr>
          <p:spPr>
            <a:xfrm>
              <a:off x="6069776" y="2422132"/>
              <a:ext cx="16290" cy="11654"/>
            </a:xfrm>
            <a:custGeom>
              <a:rect b="b" l="l" r="r" t="t"/>
              <a:pathLst>
                <a:path extrusionOk="0" h="367" w="513">
                  <a:moveTo>
                    <a:pt x="354" y="1"/>
                  </a:moveTo>
                  <a:cubicBezTo>
                    <a:pt x="335" y="1"/>
                    <a:pt x="316" y="3"/>
                    <a:pt x="299" y="9"/>
                  </a:cubicBezTo>
                  <a:lnTo>
                    <a:pt x="96" y="81"/>
                  </a:lnTo>
                  <a:cubicBezTo>
                    <a:pt x="25" y="117"/>
                    <a:pt x="1" y="200"/>
                    <a:pt x="25" y="283"/>
                  </a:cubicBezTo>
                  <a:cubicBezTo>
                    <a:pt x="37" y="343"/>
                    <a:pt x="96" y="367"/>
                    <a:pt x="156" y="367"/>
                  </a:cubicBezTo>
                  <a:cubicBezTo>
                    <a:pt x="180" y="367"/>
                    <a:pt x="191" y="367"/>
                    <a:pt x="215" y="355"/>
                  </a:cubicBezTo>
                  <a:lnTo>
                    <a:pt x="418" y="283"/>
                  </a:lnTo>
                  <a:cubicBezTo>
                    <a:pt x="489" y="248"/>
                    <a:pt x="513" y="164"/>
                    <a:pt x="489" y="81"/>
                  </a:cubicBezTo>
                  <a:cubicBezTo>
                    <a:pt x="462" y="27"/>
                    <a:pt x="409" y="1"/>
                    <a:pt x="3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5876960" y="2500027"/>
              <a:ext cx="16290" cy="11654"/>
            </a:xfrm>
            <a:custGeom>
              <a:rect b="b" l="l" r="r" t="t"/>
              <a:pathLst>
                <a:path extrusionOk="0" h="367" w="513">
                  <a:moveTo>
                    <a:pt x="352" y="0"/>
                  </a:moveTo>
                  <a:cubicBezTo>
                    <a:pt x="334" y="0"/>
                    <a:pt x="316" y="3"/>
                    <a:pt x="298" y="9"/>
                  </a:cubicBezTo>
                  <a:lnTo>
                    <a:pt x="96" y="92"/>
                  </a:lnTo>
                  <a:cubicBezTo>
                    <a:pt x="25" y="116"/>
                    <a:pt x="1" y="212"/>
                    <a:pt x="25" y="283"/>
                  </a:cubicBezTo>
                  <a:cubicBezTo>
                    <a:pt x="60" y="343"/>
                    <a:pt x="96" y="366"/>
                    <a:pt x="156" y="366"/>
                  </a:cubicBezTo>
                  <a:cubicBezTo>
                    <a:pt x="179" y="366"/>
                    <a:pt x="191" y="366"/>
                    <a:pt x="215" y="354"/>
                  </a:cubicBezTo>
                  <a:lnTo>
                    <a:pt x="418" y="283"/>
                  </a:lnTo>
                  <a:cubicBezTo>
                    <a:pt x="489" y="247"/>
                    <a:pt x="513" y="164"/>
                    <a:pt x="489" y="92"/>
                  </a:cubicBezTo>
                  <a:cubicBezTo>
                    <a:pt x="462" y="29"/>
                    <a:pt x="408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" name="Google Shape;262;p33"/>
          <p:cNvSpPr txBox="1"/>
          <p:nvPr/>
        </p:nvSpPr>
        <p:spPr>
          <a:xfrm>
            <a:off x="6984825" y="3124700"/>
            <a:ext cx="21057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Average Execution Time per Query</a:t>
            </a:r>
            <a:endParaRPr b="1" sz="15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263" name="Google Shape;26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9025" y="1903038"/>
            <a:ext cx="414675" cy="4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5800" y="1920063"/>
            <a:ext cx="380602" cy="38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type="title"/>
          </p:nvPr>
        </p:nvSpPr>
        <p:spPr>
          <a:xfrm>
            <a:off x="221925" y="-40525"/>
            <a:ext cx="87738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Average graphs</a:t>
            </a:r>
            <a:endParaRPr sz="3400"/>
          </a:p>
        </p:txBody>
      </p:sp>
      <p:sp>
        <p:nvSpPr>
          <p:cNvPr id="270" name="Google Shape;270;p34"/>
          <p:cNvSpPr txBox="1"/>
          <p:nvPr/>
        </p:nvSpPr>
        <p:spPr>
          <a:xfrm>
            <a:off x="1604250" y="3351775"/>
            <a:ext cx="5859000" cy="48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4"/>
              <a:buFont typeface="Arial"/>
              <a:buNone/>
            </a:pPr>
            <a:r>
              <a:rPr b="1" lang="en" sz="2133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Key Findings</a:t>
            </a:r>
            <a:endParaRPr b="1" sz="2133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71" name="Google Shape;271;p34"/>
          <p:cNvSpPr txBox="1"/>
          <p:nvPr/>
        </p:nvSpPr>
        <p:spPr>
          <a:xfrm>
            <a:off x="1501100" y="3777767"/>
            <a:ext cx="67302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-398977" lvl="0" marL="54200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Medium loads: Quadratic better than Linear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98977" lvl="0" marL="54200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High loads: Linear degrades significantly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185"/>
              </a:spcBef>
              <a:spcAft>
                <a:spcPts val="1185"/>
              </a:spcAft>
              <a:buNone/>
            </a:pPr>
            <a:r>
              <a:t/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72" name="Google Shape;27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375" y="732750"/>
            <a:ext cx="4373950" cy="254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57" y="732750"/>
            <a:ext cx="4368419" cy="25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221925" y="-40525"/>
            <a:ext cx="87738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Maximum </a:t>
            </a:r>
            <a:r>
              <a:rPr lang="en" sz="3400"/>
              <a:t>graphs</a:t>
            </a:r>
            <a:endParaRPr sz="3400"/>
          </a:p>
        </p:txBody>
      </p:sp>
      <p:sp>
        <p:nvSpPr>
          <p:cNvPr id="279" name="Google Shape;279;p35"/>
          <p:cNvSpPr txBox="1"/>
          <p:nvPr/>
        </p:nvSpPr>
        <p:spPr>
          <a:xfrm>
            <a:off x="1604250" y="3351775"/>
            <a:ext cx="5859000" cy="48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4"/>
              <a:buFont typeface="Arial"/>
              <a:buNone/>
            </a:pPr>
            <a:r>
              <a:rPr b="1" lang="en" sz="2133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Key Findings</a:t>
            </a:r>
            <a:endParaRPr b="1" sz="2133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80" name="Google Shape;280;p35"/>
          <p:cNvSpPr txBox="1"/>
          <p:nvPr/>
        </p:nvSpPr>
        <p:spPr>
          <a:xfrm>
            <a:off x="1501100" y="3777767"/>
            <a:ext cx="67302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-398977" lvl="0" marL="54200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Linear Probing Worst Case at α = 0.96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98977" lvl="0" marL="542006" rtl="0" algn="l">
              <a:spcBef>
                <a:spcPts val="1185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Quadratic provides better worst-case at the same α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185"/>
              </a:spcBef>
              <a:spcAft>
                <a:spcPts val="1185"/>
              </a:spcAft>
              <a:buNone/>
            </a:pPr>
            <a:r>
              <a:t/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81" name="Google Shape;28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00" y="717475"/>
            <a:ext cx="4343925" cy="251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3789" y="684200"/>
            <a:ext cx="4398861" cy="254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title"/>
          </p:nvPr>
        </p:nvSpPr>
        <p:spPr>
          <a:xfrm>
            <a:off x="221925" y="-40525"/>
            <a:ext cx="87738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Execution Time</a:t>
            </a:r>
            <a:endParaRPr sz="3400"/>
          </a:p>
        </p:txBody>
      </p:sp>
      <p:sp>
        <p:nvSpPr>
          <p:cNvPr id="288" name="Google Shape;288;p36"/>
          <p:cNvSpPr txBox="1"/>
          <p:nvPr/>
        </p:nvSpPr>
        <p:spPr>
          <a:xfrm>
            <a:off x="6201800" y="949275"/>
            <a:ext cx="2571000" cy="57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4"/>
              <a:buFont typeface="Arial"/>
              <a:buNone/>
            </a:pPr>
            <a:r>
              <a:rPr b="1" lang="en" sz="2133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Key Findings</a:t>
            </a:r>
            <a:endParaRPr b="1" sz="2133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89" name="Google Shape;289;p36"/>
          <p:cNvSpPr txBox="1"/>
          <p:nvPr/>
        </p:nvSpPr>
        <p:spPr>
          <a:xfrm>
            <a:off x="6010700" y="1651056"/>
            <a:ext cx="29532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-398977" lvl="0" marL="54200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Best Case: 0.96-1.91 microseconds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98977" lvl="0" marL="542006" rtl="0" algn="l">
              <a:spcBef>
                <a:spcPts val="1185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String comparison cost beats hash computation cost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185"/>
              </a:spcBef>
              <a:spcAft>
                <a:spcPts val="1185"/>
              </a:spcAft>
              <a:buNone/>
            </a:pPr>
            <a:r>
              <a:t/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90" name="Google Shape;29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50" y="914738"/>
            <a:ext cx="5705901" cy="3314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Performers based on </a:t>
            </a:r>
            <a:r>
              <a:rPr lang="en" sz="3015"/>
              <a:t>α = 0.78</a:t>
            </a:r>
            <a:endParaRPr sz="4000"/>
          </a:p>
        </p:txBody>
      </p:sp>
      <p:sp>
        <p:nvSpPr>
          <p:cNvPr id="296" name="Google Shape;296;p37"/>
          <p:cNvSpPr txBox="1"/>
          <p:nvPr>
            <p:ph idx="1" type="subTitle"/>
          </p:nvPr>
        </p:nvSpPr>
        <p:spPr>
          <a:xfrm>
            <a:off x="1294375" y="1621676"/>
            <a:ext cx="5706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Average Comparisons: 1.06 per query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Maximum Comparisons: 22 per query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97" name="Google Shape;297;p37"/>
          <p:cNvSpPr txBox="1"/>
          <p:nvPr>
            <p:ph idx="2" type="subTitle"/>
          </p:nvPr>
        </p:nvSpPr>
        <p:spPr>
          <a:xfrm>
            <a:off x="1294375" y="2804921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Average Comparisons: 1.17 per query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Maximum Comparisons: 22 per query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98" name="Google Shape;298;p37"/>
          <p:cNvSpPr txBox="1"/>
          <p:nvPr>
            <p:ph idx="3" type="subTitle"/>
          </p:nvPr>
        </p:nvSpPr>
        <p:spPr>
          <a:xfrm>
            <a:off x="1294375" y="3930871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Average Comparisons:</a:t>
            </a:r>
            <a:r>
              <a:rPr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 1.63 per query</a:t>
            </a:r>
            <a:endParaRPr sz="1300">
              <a:solidFill>
                <a:srgbClr val="CCCCCC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Maximum Comparisons:</a:t>
            </a:r>
            <a:r>
              <a:rPr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 49 per query</a:t>
            </a:r>
            <a:endParaRPr sz="1600"/>
          </a:p>
        </p:txBody>
      </p:sp>
      <p:sp>
        <p:nvSpPr>
          <p:cNvPr id="299" name="Google Shape;299;p37"/>
          <p:cNvSpPr/>
          <p:nvPr/>
        </p:nvSpPr>
        <p:spPr>
          <a:xfrm>
            <a:off x="720000" y="1447574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1st</a:t>
            </a:r>
            <a:endParaRPr sz="15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720008" y="2589483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2nd</a:t>
            </a:r>
            <a:endParaRPr sz="13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01" name="Google Shape;301;p37"/>
          <p:cNvSpPr/>
          <p:nvPr/>
        </p:nvSpPr>
        <p:spPr>
          <a:xfrm>
            <a:off x="719992" y="3731366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3rd</a:t>
            </a:r>
            <a:endParaRPr sz="11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02" name="Google Shape;302;p37"/>
          <p:cNvSpPr txBox="1"/>
          <p:nvPr>
            <p:ph idx="4" type="subTitle"/>
          </p:nvPr>
        </p:nvSpPr>
        <p:spPr>
          <a:xfrm>
            <a:off x="1294375" y="13298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+ Quadratic Probing</a:t>
            </a:r>
            <a:endParaRPr/>
          </a:p>
        </p:txBody>
      </p:sp>
      <p:sp>
        <p:nvSpPr>
          <p:cNvPr id="303" name="Google Shape;303;p37"/>
          <p:cNvSpPr txBox="1"/>
          <p:nvPr>
            <p:ph idx="5" type="subTitle"/>
          </p:nvPr>
        </p:nvSpPr>
        <p:spPr>
          <a:xfrm>
            <a:off x="1294375" y="24503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 Rolling + Quadratic Probing</a:t>
            </a:r>
            <a:endParaRPr/>
          </a:p>
        </p:txBody>
      </p:sp>
      <p:sp>
        <p:nvSpPr>
          <p:cNvPr id="304" name="Google Shape;304;p37"/>
          <p:cNvSpPr txBox="1"/>
          <p:nvPr>
            <p:ph idx="6" type="subTitle"/>
          </p:nvPr>
        </p:nvSpPr>
        <p:spPr>
          <a:xfrm>
            <a:off x="1294375" y="35709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+ Linear Probing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/>
          <p:nvPr/>
        </p:nvSpPr>
        <p:spPr>
          <a:xfrm>
            <a:off x="1955966" y="1925000"/>
            <a:ext cx="549000" cy="51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/>
          <p:nvPr/>
        </p:nvSpPr>
        <p:spPr>
          <a:xfrm>
            <a:off x="4297504" y="1925000"/>
            <a:ext cx="549000" cy="51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8"/>
          <p:cNvSpPr/>
          <p:nvPr/>
        </p:nvSpPr>
        <p:spPr>
          <a:xfrm>
            <a:off x="6639004" y="1925000"/>
            <a:ext cx="549000" cy="51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8"/>
          <p:cNvSpPr txBox="1"/>
          <p:nvPr>
            <p:ph type="title"/>
          </p:nvPr>
        </p:nvSpPr>
        <p:spPr>
          <a:xfrm>
            <a:off x="713250" y="41705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Comparisons</a:t>
            </a:r>
            <a:endParaRPr sz="3900"/>
          </a:p>
        </p:txBody>
      </p:sp>
      <p:sp>
        <p:nvSpPr>
          <p:cNvPr id="313" name="Google Shape;313;p38"/>
          <p:cNvSpPr txBox="1"/>
          <p:nvPr>
            <p:ph idx="7" type="subTitle"/>
          </p:nvPr>
        </p:nvSpPr>
        <p:spPr>
          <a:xfrm>
            <a:off x="1230415" y="2815750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Use for Production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Best Speed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Very Good Distribution</a:t>
            </a:r>
            <a:endParaRPr sz="1300"/>
          </a:p>
        </p:txBody>
      </p:sp>
      <p:sp>
        <p:nvSpPr>
          <p:cNvPr id="314" name="Google Shape;314;p38"/>
          <p:cNvSpPr txBox="1"/>
          <p:nvPr>
            <p:ph idx="8" type="subTitle"/>
          </p:nvPr>
        </p:nvSpPr>
        <p:spPr>
          <a:xfrm>
            <a:off x="3571949" y="2815750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for General Use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 Best speed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Distribution</a:t>
            </a:r>
            <a:endParaRPr/>
          </a:p>
        </p:txBody>
      </p:sp>
      <p:sp>
        <p:nvSpPr>
          <p:cNvPr id="315" name="Google Shape;315;p38"/>
          <p:cNvSpPr txBox="1"/>
          <p:nvPr>
            <p:ph idx="9" type="subTitle"/>
          </p:nvPr>
        </p:nvSpPr>
        <p:spPr>
          <a:xfrm>
            <a:off x="5913490" y="2815750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for Theory Testing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Worst Speed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Distribution</a:t>
            </a:r>
            <a:endParaRPr/>
          </a:p>
        </p:txBody>
      </p:sp>
      <p:sp>
        <p:nvSpPr>
          <p:cNvPr id="316" name="Google Shape;316;p38"/>
          <p:cNvSpPr txBox="1"/>
          <p:nvPr>
            <p:ph idx="13" type="subTitle"/>
          </p:nvPr>
        </p:nvSpPr>
        <p:spPr>
          <a:xfrm>
            <a:off x="1230403" y="2509025"/>
            <a:ext cx="20001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</a:t>
            </a:r>
            <a:endParaRPr/>
          </a:p>
        </p:txBody>
      </p:sp>
      <p:sp>
        <p:nvSpPr>
          <p:cNvPr id="317" name="Google Shape;317;p38"/>
          <p:cNvSpPr txBox="1"/>
          <p:nvPr>
            <p:ph idx="14" type="subTitle"/>
          </p:nvPr>
        </p:nvSpPr>
        <p:spPr>
          <a:xfrm>
            <a:off x="3571947" y="2509025"/>
            <a:ext cx="20001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</a:t>
            </a:r>
            <a:endParaRPr/>
          </a:p>
        </p:txBody>
      </p:sp>
      <p:sp>
        <p:nvSpPr>
          <p:cNvPr id="318" name="Google Shape;318;p38"/>
          <p:cNvSpPr txBox="1"/>
          <p:nvPr>
            <p:ph idx="15" type="subTitle"/>
          </p:nvPr>
        </p:nvSpPr>
        <p:spPr>
          <a:xfrm>
            <a:off x="5913497" y="2509025"/>
            <a:ext cx="20001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Universal</a:t>
            </a:r>
            <a:endParaRPr/>
          </a:p>
        </p:txBody>
      </p:sp>
      <p:pic>
        <p:nvPicPr>
          <p:cNvPr id="319" name="Google Shape;3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050" y="1922500"/>
            <a:ext cx="516800" cy="5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9199" y="1878112"/>
            <a:ext cx="605574" cy="605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38"/>
          <p:cNvGrpSpPr/>
          <p:nvPr/>
        </p:nvGrpSpPr>
        <p:grpSpPr>
          <a:xfrm>
            <a:off x="6709596" y="1922477"/>
            <a:ext cx="407908" cy="516806"/>
            <a:chOff x="6707084" y="3387403"/>
            <a:chExt cx="261145" cy="308504"/>
          </a:xfrm>
        </p:grpSpPr>
        <p:sp>
          <p:nvSpPr>
            <p:cNvPr id="322" name="Google Shape;322;p38"/>
            <p:cNvSpPr/>
            <p:nvPr/>
          </p:nvSpPr>
          <p:spPr>
            <a:xfrm>
              <a:off x="6726053" y="3542403"/>
              <a:ext cx="68238" cy="153504"/>
            </a:xfrm>
            <a:custGeom>
              <a:rect b="b" l="l" r="r" t="t"/>
              <a:pathLst>
                <a:path extrusionOk="0" h="4823" w="2144">
                  <a:moveTo>
                    <a:pt x="1203" y="286"/>
                  </a:moveTo>
                  <a:cubicBezTo>
                    <a:pt x="1381" y="286"/>
                    <a:pt x="1524" y="417"/>
                    <a:pt x="1524" y="596"/>
                  </a:cubicBezTo>
                  <a:lnTo>
                    <a:pt x="1524" y="893"/>
                  </a:lnTo>
                  <a:cubicBezTo>
                    <a:pt x="1524" y="1143"/>
                    <a:pt x="1310" y="1358"/>
                    <a:pt x="1060" y="1358"/>
                  </a:cubicBezTo>
                  <a:cubicBezTo>
                    <a:pt x="810" y="1358"/>
                    <a:pt x="596" y="1143"/>
                    <a:pt x="596" y="893"/>
                  </a:cubicBezTo>
                  <a:lnTo>
                    <a:pt x="596" y="596"/>
                  </a:lnTo>
                  <a:cubicBezTo>
                    <a:pt x="596" y="417"/>
                    <a:pt x="726" y="286"/>
                    <a:pt x="905" y="286"/>
                  </a:cubicBezTo>
                  <a:close/>
                  <a:moveTo>
                    <a:pt x="1227" y="1643"/>
                  </a:moveTo>
                  <a:lnTo>
                    <a:pt x="1227" y="1715"/>
                  </a:lnTo>
                  <a:cubicBezTo>
                    <a:pt x="1227" y="1774"/>
                    <a:pt x="1238" y="1822"/>
                    <a:pt x="1262" y="1858"/>
                  </a:cubicBezTo>
                  <a:lnTo>
                    <a:pt x="1060" y="2036"/>
                  </a:lnTo>
                  <a:lnTo>
                    <a:pt x="846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1060" y="2036"/>
                  </a:moveTo>
                  <a:cubicBezTo>
                    <a:pt x="1060" y="2048"/>
                    <a:pt x="1057" y="2054"/>
                    <a:pt x="1055" y="2054"/>
                  </a:cubicBezTo>
                  <a:cubicBezTo>
                    <a:pt x="1054" y="2054"/>
                    <a:pt x="1054" y="2048"/>
                    <a:pt x="1060" y="2036"/>
                  </a:cubicBezTo>
                  <a:close/>
                  <a:moveTo>
                    <a:pt x="905" y="0"/>
                  </a:moveTo>
                  <a:cubicBezTo>
                    <a:pt x="584" y="0"/>
                    <a:pt x="310" y="274"/>
                    <a:pt x="310" y="596"/>
                  </a:cubicBezTo>
                  <a:lnTo>
                    <a:pt x="310" y="893"/>
                  </a:lnTo>
                  <a:cubicBezTo>
                    <a:pt x="310" y="1143"/>
                    <a:pt x="429" y="1358"/>
                    <a:pt x="607" y="1489"/>
                  </a:cubicBezTo>
                  <a:lnTo>
                    <a:pt x="607" y="1703"/>
                  </a:lnTo>
                  <a:lnTo>
                    <a:pt x="607" y="1715"/>
                  </a:lnTo>
                  <a:lnTo>
                    <a:pt x="250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36" y="3870"/>
                    <a:pt x="107" y="3965"/>
                  </a:cubicBezTo>
                  <a:lnTo>
                    <a:pt x="250" y="4179"/>
                  </a:lnTo>
                  <a:cubicBezTo>
                    <a:pt x="286" y="4227"/>
                    <a:pt x="310" y="4298"/>
                    <a:pt x="310" y="4358"/>
                  </a:cubicBezTo>
                  <a:lnTo>
                    <a:pt x="310" y="4679"/>
                  </a:lnTo>
                  <a:cubicBezTo>
                    <a:pt x="310" y="4751"/>
                    <a:pt x="369" y="4822"/>
                    <a:pt x="465" y="4822"/>
                  </a:cubicBezTo>
                  <a:cubicBezTo>
                    <a:pt x="536" y="4822"/>
                    <a:pt x="607" y="4763"/>
                    <a:pt x="607" y="4679"/>
                  </a:cubicBezTo>
                  <a:lnTo>
                    <a:pt x="607" y="4358"/>
                  </a:lnTo>
                  <a:cubicBezTo>
                    <a:pt x="607" y="4239"/>
                    <a:pt x="584" y="4120"/>
                    <a:pt x="512" y="4036"/>
                  </a:cubicBezTo>
                  <a:lnTo>
                    <a:pt x="357" y="3810"/>
                  </a:lnTo>
                  <a:cubicBezTo>
                    <a:pt x="334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34" y="2179"/>
                    <a:pt x="381" y="2143"/>
                  </a:cubicBezTo>
                  <a:lnTo>
                    <a:pt x="643" y="2024"/>
                  </a:lnTo>
                  <a:lnTo>
                    <a:pt x="857" y="2251"/>
                  </a:lnTo>
                  <a:cubicBezTo>
                    <a:pt x="929" y="2310"/>
                    <a:pt x="1000" y="2334"/>
                    <a:pt x="1072" y="2334"/>
                  </a:cubicBezTo>
                  <a:cubicBezTo>
                    <a:pt x="1143" y="2334"/>
                    <a:pt x="1227" y="2310"/>
                    <a:pt x="1286" y="2251"/>
                  </a:cubicBezTo>
                  <a:lnTo>
                    <a:pt x="1500" y="2024"/>
                  </a:lnTo>
                  <a:lnTo>
                    <a:pt x="1762" y="2143"/>
                  </a:lnTo>
                  <a:cubicBezTo>
                    <a:pt x="1822" y="2179"/>
                    <a:pt x="1846" y="2239"/>
                    <a:pt x="1846" y="2298"/>
                  </a:cubicBezTo>
                  <a:lnTo>
                    <a:pt x="1846" y="3632"/>
                  </a:lnTo>
                  <a:cubicBezTo>
                    <a:pt x="1846" y="3691"/>
                    <a:pt x="1834" y="3751"/>
                    <a:pt x="1786" y="3810"/>
                  </a:cubicBezTo>
                  <a:lnTo>
                    <a:pt x="1643" y="4036"/>
                  </a:lnTo>
                  <a:cubicBezTo>
                    <a:pt x="1572" y="4144"/>
                    <a:pt x="1536" y="4239"/>
                    <a:pt x="1536" y="4358"/>
                  </a:cubicBezTo>
                  <a:lnTo>
                    <a:pt x="1536" y="4679"/>
                  </a:lnTo>
                  <a:cubicBezTo>
                    <a:pt x="1536" y="4751"/>
                    <a:pt x="1596" y="4822"/>
                    <a:pt x="1679" y="4822"/>
                  </a:cubicBezTo>
                  <a:cubicBezTo>
                    <a:pt x="1750" y="4822"/>
                    <a:pt x="1834" y="4763"/>
                    <a:pt x="1834" y="4679"/>
                  </a:cubicBezTo>
                  <a:lnTo>
                    <a:pt x="1834" y="4358"/>
                  </a:lnTo>
                  <a:cubicBezTo>
                    <a:pt x="1834" y="4298"/>
                    <a:pt x="1846" y="4239"/>
                    <a:pt x="1893" y="4179"/>
                  </a:cubicBezTo>
                  <a:lnTo>
                    <a:pt x="2036" y="3965"/>
                  </a:lnTo>
                  <a:cubicBezTo>
                    <a:pt x="2096" y="3858"/>
                    <a:pt x="2143" y="3751"/>
                    <a:pt x="2143" y="3632"/>
                  </a:cubicBezTo>
                  <a:lnTo>
                    <a:pt x="2143" y="2298"/>
                  </a:lnTo>
                  <a:cubicBezTo>
                    <a:pt x="2096" y="2120"/>
                    <a:pt x="2012" y="1965"/>
                    <a:pt x="1858" y="1893"/>
                  </a:cubicBezTo>
                  <a:lnTo>
                    <a:pt x="1500" y="1715"/>
                  </a:lnTo>
                  <a:lnTo>
                    <a:pt x="1500" y="1703"/>
                  </a:lnTo>
                  <a:lnTo>
                    <a:pt x="1500" y="1489"/>
                  </a:lnTo>
                  <a:cubicBezTo>
                    <a:pt x="1679" y="1358"/>
                    <a:pt x="1798" y="1131"/>
                    <a:pt x="1798" y="893"/>
                  </a:cubicBezTo>
                  <a:lnTo>
                    <a:pt x="1798" y="596"/>
                  </a:lnTo>
                  <a:cubicBezTo>
                    <a:pt x="1798" y="274"/>
                    <a:pt x="1536" y="0"/>
                    <a:pt x="1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5600" lIns="105600" spcFirstLastPara="1" rIns="105600" wrap="square" tIns="105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17">
                <a:solidFill>
                  <a:srgbClr val="999999"/>
                </a:solidFill>
              </a:endParaRPr>
            </a:p>
          </p:txBody>
        </p:sp>
        <p:sp>
          <p:nvSpPr>
            <p:cNvPr id="323" name="Google Shape;323;p38"/>
            <p:cNvSpPr/>
            <p:nvPr/>
          </p:nvSpPr>
          <p:spPr>
            <a:xfrm>
              <a:off x="6803362" y="3542403"/>
              <a:ext cx="68238" cy="153504"/>
            </a:xfrm>
            <a:custGeom>
              <a:rect b="b" l="l" r="r" t="t"/>
              <a:pathLst>
                <a:path extrusionOk="0" h="4823" w="2144">
                  <a:moveTo>
                    <a:pt x="1203" y="286"/>
                  </a:moveTo>
                  <a:cubicBezTo>
                    <a:pt x="1381" y="286"/>
                    <a:pt x="1512" y="417"/>
                    <a:pt x="1512" y="596"/>
                  </a:cubicBezTo>
                  <a:lnTo>
                    <a:pt x="1512" y="893"/>
                  </a:lnTo>
                  <a:cubicBezTo>
                    <a:pt x="1512" y="1143"/>
                    <a:pt x="1310" y="1358"/>
                    <a:pt x="1060" y="1358"/>
                  </a:cubicBezTo>
                  <a:cubicBezTo>
                    <a:pt x="798" y="1358"/>
                    <a:pt x="595" y="1143"/>
                    <a:pt x="595" y="893"/>
                  </a:cubicBezTo>
                  <a:lnTo>
                    <a:pt x="595" y="596"/>
                  </a:lnTo>
                  <a:cubicBezTo>
                    <a:pt x="595" y="417"/>
                    <a:pt x="726" y="286"/>
                    <a:pt x="905" y="286"/>
                  </a:cubicBezTo>
                  <a:close/>
                  <a:moveTo>
                    <a:pt x="1215" y="1643"/>
                  </a:moveTo>
                  <a:lnTo>
                    <a:pt x="1215" y="1715"/>
                  </a:lnTo>
                  <a:cubicBezTo>
                    <a:pt x="1215" y="1774"/>
                    <a:pt x="1226" y="1822"/>
                    <a:pt x="1262" y="1858"/>
                  </a:cubicBezTo>
                  <a:lnTo>
                    <a:pt x="1060" y="2036"/>
                  </a:lnTo>
                  <a:lnTo>
                    <a:pt x="845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1060" y="2036"/>
                  </a:moveTo>
                  <a:cubicBezTo>
                    <a:pt x="1060" y="2048"/>
                    <a:pt x="1054" y="2054"/>
                    <a:pt x="1051" y="2054"/>
                  </a:cubicBezTo>
                  <a:cubicBezTo>
                    <a:pt x="1048" y="2054"/>
                    <a:pt x="1048" y="2048"/>
                    <a:pt x="1060" y="2036"/>
                  </a:cubicBezTo>
                  <a:close/>
                  <a:moveTo>
                    <a:pt x="905" y="0"/>
                  </a:moveTo>
                  <a:cubicBezTo>
                    <a:pt x="583" y="0"/>
                    <a:pt x="310" y="274"/>
                    <a:pt x="310" y="596"/>
                  </a:cubicBezTo>
                  <a:lnTo>
                    <a:pt x="310" y="893"/>
                  </a:lnTo>
                  <a:cubicBezTo>
                    <a:pt x="310" y="1143"/>
                    <a:pt x="429" y="1358"/>
                    <a:pt x="607" y="1489"/>
                  </a:cubicBezTo>
                  <a:lnTo>
                    <a:pt x="607" y="1703"/>
                  </a:lnTo>
                  <a:lnTo>
                    <a:pt x="607" y="1715"/>
                  </a:lnTo>
                  <a:lnTo>
                    <a:pt x="250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24" y="3870"/>
                    <a:pt x="107" y="3965"/>
                  </a:cubicBezTo>
                  <a:lnTo>
                    <a:pt x="250" y="4179"/>
                  </a:lnTo>
                  <a:cubicBezTo>
                    <a:pt x="286" y="4227"/>
                    <a:pt x="310" y="4298"/>
                    <a:pt x="310" y="4358"/>
                  </a:cubicBezTo>
                  <a:lnTo>
                    <a:pt x="310" y="4679"/>
                  </a:lnTo>
                  <a:cubicBezTo>
                    <a:pt x="310" y="4751"/>
                    <a:pt x="369" y="4822"/>
                    <a:pt x="464" y="4822"/>
                  </a:cubicBezTo>
                  <a:cubicBezTo>
                    <a:pt x="548" y="4822"/>
                    <a:pt x="607" y="4763"/>
                    <a:pt x="607" y="4679"/>
                  </a:cubicBezTo>
                  <a:lnTo>
                    <a:pt x="607" y="4358"/>
                  </a:lnTo>
                  <a:cubicBezTo>
                    <a:pt x="607" y="4239"/>
                    <a:pt x="583" y="4120"/>
                    <a:pt x="500" y="4036"/>
                  </a:cubicBezTo>
                  <a:lnTo>
                    <a:pt x="357" y="3810"/>
                  </a:lnTo>
                  <a:cubicBezTo>
                    <a:pt x="322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22" y="2179"/>
                    <a:pt x="381" y="2143"/>
                  </a:cubicBezTo>
                  <a:lnTo>
                    <a:pt x="631" y="2024"/>
                  </a:lnTo>
                  <a:lnTo>
                    <a:pt x="857" y="2251"/>
                  </a:lnTo>
                  <a:cubicBezTo>
                    <a:pt x="917" y="2310"/>
                    <a:pt x="1000" y="2334"/>
                    <a:pt x="1072" y="2334"/>
                  </a:cubicBezTo>
                  <a:cubicBezTo>
                    <a:pt x="1143" y="2334"/>
                    <a:pt x="1215" y="2310"/>
                    <a:pt x="1274" y="2251"/>
                  </a:cubicBezTo>
                  <a:lnTo>
                    <a:pt x="1500" y="2024"/>
                  </a:lnTo>
                  <a:lnTo>
                    <a:pt x="1750" y="2143"/>
                  </a:lnTo>
                  <a:cubicBezTo>
                    <a:pt x="1810" y="2179"/>
                    <a:pt x="1846" y="2239"/>
                    <a:pt x="1846" y="2298"/>
                  </a:cubicBezTo>
                  <a:lnTo>
                    <a:pt x="1846" y="3632"/>
                  </a:lnTo>
                  <a:cubicBezTo>
                    <a:pt x="1846" y="3691"/>
                    <a:pt x="1834" y="3751"/>
                    <a:pt x="1786" y="3810"/>
                  </a:cubicBezTo>
                  <a:lnTo>
                    <a:pt x="1631" y="4036"/>
                  </a:lnTo>
                  <a:cubicBezTo>
                    <a:pt x="1572" y="4144"/>
                    <a:pt x="1524" y="4239"/>
                    <a:pt x="1524" y="4358"/>
                  </a:cubicBezTo>
                  <a:lnTo>
                    <a:pt x="1524" y="4679"/>
                  </a:lnTo>
                  <a:cubicBezTo>
                    <a:pt x="1524" y="4751"/>
                    <a:pt x="1596" y="4822"/>
                    <a:pt x="1679" y="4822"/>
                  </a:cubicBezTo>
                  <a:cubicBezTo>
                    <a:pt x="1750" y="4822"/>
                    <a:pt x="1822" y="4763"/>
                    <a:pt x="1822" y="4679"/>
                  </a:cubicBezTo>
                  <a:lnTo>
                    <a:pt x="1822" y="4358"/>
                  </a:lnTo>
                  <a:cubicBezTo>
                    <a:pt x="1822" y="4298"/>
                    <a:pt x="1846" y="4239"/>
                    <a:pt x="1893" y="4179"/>
                  </a:cubicBezTo>
                  <a:lnTo>
                    <a:pt x="2036" y="3965"/>
                  </a:lnTo>
                  <a:cubicBezTo>
                    <a:pt x="2096" y="3858"/>
                    <a:pt x="2143" y="3751"/>
                    <a:pt x="2143" y="3632"/>
                  </a:cubicBezTo>
                  <a:lnTo>
                    <a:pt x="2143" y="2298"/>
                  </a:lnTo>
                  <a:cubicBezTo>
                    <a:pt x="2096" y="2120"/>
                    <a:pt x="2012" y="1965"/>
                    <a:pt x="1857" y="1893"/>
                  </a:cubicBezTo>
                  <a:lnTo>
                    <a:pt x="1500" y="1715"/>
                  </a:lnTo>
                  <a:lnTo>
                    <a:pt x="1500" y="1703"/>
                  </a:lnTo>
                  <a:lnTo>
                    <a:pt x="1500" y="1489"/>
                  </a:lnTo>
                  <a:cubicBezTo>
                    <a:pt x="1679" y="1358"/>
                    <a:pt x="1798" y="1131"/>
                    <a:pt x="1798" y="893"/>
                  </a:cubicBezTo>
                  <a:lnTo>
                    <a:pt x="1798" y="596"/>
                  </a:lnTo>
                  <a:cubicBezTo>
                    <a:pt x="1798" y="274"/>
                    <a:pt x="1536" y="0"/>
                    <a:pt x="1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5600" lIns="105600" spcFirstLastPara="1" rIns="105600" wrap="square" tIns="105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17">
                <a:solidFill>
                  <a:srgbClr val="999999"/>
                </a:solidFill>
              </a:endParaRPr>
            </a:p>
          </p:txBody>
        </p:sp>
        <p:sp>
          <p:nvSpPr>
            <p:cNvPr id="324" name="Google Shape;324;p38"/>
            <p:cNvSpPr/>
            <p:nvPr/>
          </p:nvSpPr>
          <p:spPr>
            <a:xfrm>
              <a:off x="6880289" y="3542403"/>
              <a:ext cx="68620" cy="153504"/>
            </a:xfrm>
            <a:custGeom>
              <a:rect b="b" l="l" r="r" t="t"/>
              <a:pathLst>
                <a:path extrusionOk="0" h="4823" w="2156">
                  <a:moveTo>
                    <a:pt x="1214" y="286"/>
                  </a:moveTo>
                  <a:cubicBezTo>
                    <a:pt x="1393" y="286"/>
                    <a:pt x="1524" y="417"/>
                    <a:pt x="1524" y="596"/>
                  </a:cubicBezTo>
                  <a:lnTo>
                    <a:pt x="1524" y="893"/>
                  </a:lnTo>
                  <a:cubicBezTo>
                    <a:pt x="1524" y="1143"/>
                    <a:pt x="1322" y="1358"/>
                    <a:pt x="1060" y="1358"/>
                  </a:cubicBezTo>
                  <a:cubicBezTo>
                    <a:pt x="810" y="1358"/>
                    <a:pt x="607" y="1143"/>
                    <a:pt x="607" y="893"/>
                  </a:cubicBezTo>
                  <a:lnTo>
                    <a:pt x="607" y="596"/>
                  </a:lnTo>
                  <a:cubicBezTo>
                    <a:pt x="607" y="417"/>
                    <a:pt x="738" y="286"/>
                    <a:pt x="917" y="286"/>
                  </a:cubicBezTo>
                  <a:close/>
                  <a:moveTo>
                    <a:pt x="1226" y="1643"/>
                  </a:moveTo>
                  <a:lnTo>
                    <a:pt x="1226" y="1715"/>
                  </a:lnTo>
                  <a:cubicBezTo>
                    <a:pt x="1226" y="1774"/>
                    <a:pt x="1238" y="1822"/>
                    <a:pt x="1274" y="1858"/>
                  </a:cubicBezTo>
                  <a:lnTo>
                    <a:pt x="1060" y="2036"/>
                  </a:lnTo>
                  <a:lnTo>
                    <a:pt x="857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917" y="0"/>
                  </a:moveTo>
                  <a:cubicBezTo>
                    <a:pt x="583" y="0"/>
                    <a:pt x="322" y="274"/>
                    <a:pt x="322" y="596"/>
                  </a:cubicBezTo>
                  <a:lnTo>
                    <a:pt x="322" y="893"/>
                  </a:lnTo>
                  <a:cubicBezTo>
                    <a:pt x="322" y="1143"/>
                    <a:pt x="441" y="1358"/>
                    <a:pt x="619" y="1489"/>
                  </a:cubicBezTo>
                  <a:lnTo>
                    <a:pt x="619" y="1703"/>
                  </a:lnTo>
                  <a:lnTo>
                    <a:pt x="619" y="1715"/>
                  </a:lnTo>
                  <a:lnTo>
                    <a:pt x="262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36" y="3870"/>
                    <a:pt x="107" y="3965"/>
                  </a:cubicBezTo>
                  <a:lnTo>
                    <a:pt x="262" y="4179"/>
                  </a:lnTo>
                  <a:cubicBezTo>
                    <a:pt x="286" y="4227"/>
                    <a:pt x="322" y="4298"/>
                    <a:pt x="322" y="4358"/>
                  </a:cubicBezTo>
                  <a:lnTo>
                    <a:pt x="322" y="4679"/>
                  </a:lnTo>
                  <a:cubicBezTo>
                    <a:pt x="322" y="4751"/>
                    <a:pt x="381" y="4822"/>
                    <a:pt x="464" y="4822"/>
                  </a:cubicBezTo>
                  <a:cubicBezTo>
                    <a:pt x="548" y="4822"/>
                    <a:pt x="619" y="4763"/>
                    <a:pt x="619" y="4679"/>
                  </a:cubicBezTo>
                  <a:lnTo>
                    <a:pt x="619" y="4358"/>
                  </a:lnTo>
                  <a:cubicBezTo>
                    <a:pt x="619" y="4239"/>
                    <a:pt x="583" y="4120"/>
                    <a:pt x="512" y="4036"/>
                  </a:cubicBezTo>
                  <a:lnTo>
                    <a:pt x="369" y="3810"/>
                  </a:lnTo>
                  <a:cubicBezTo>
                    <a:pt x="333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33" y="2179"/>
                    <a:pt x="393" y="2143"/>
                  </a:cubicBezTo>
                  <a:lnTo>
                    <a:pt x="643" y="2024"/>
                  </a:lnTo>
                  <a:lnTo>
                    <a:pt x="869" y="2251"/>
                  </a:lnTo>
                  <a:cubicBezTo>
                    <a:pt x="929" y="2310"/>
                    <a:pt x="1000" y="2334"/>
                    <a:pt x="1072" y="2334"/>
                  </a:cubicBezTo>
                  <a:cubicBezTo>
                    <a:pt x="1155" y="2334"/>
                    <a:pt x="1226" y="2310"/>
                    <a:pt x="1286" y="2251"/>
                  </a:cubicBezTo>
                  <a:lnTo>
                    <a:pt x="1512" y="2024"/>
                  </a:lnTo>
                  <a:lnTo>
                    <a:pt x="1762" y="2143"/>
                  </a:lnTo>
                  <a:cubicBezTo>
                    <a:pt x="1822" y="2179"/>
                    <a:pt x="1857" y="2239"/>
                    <a:pt x="1857" y="2298"/>
                  </a:cubicBezTo>
                  <a:lnTo>
                    <a:pt x="1857" y="3632"/>
                  </a:lnTo>
                  <a:cubicBezTo>
                    <a:pt x="1857" y="3691"/>
                    <a:pt x="1834" y="3751"/>
                    <a:pt x="1786" y="3810"/>
                  </a:cubicBezTo>
                  <a:lnTo>
                    <a:pt x="1643" y="4036"/>
                  </a:lnTo>
                  <a:cubicBezTo>
                    <a:pt x="1584" y="4144"/>
                    <a:pt x="1536" y="4239"/>
                    <a:pt x="1536" y="4358"/>
                  </a:cubicBezTo>
                  <a:lnTo>
                    <a:pt x="1536" y="4679"/>
                  </a:lnTo>
                  <a:cubicBezTo>
                    <a:pt x="1536" y="4751"/>
                    <a:pt x="1595" y="4822"/>
                    <a:pt x="1691" y="4822"/>
                  </a:cubicBezTo>
                  <a:cubicBezTo>
                    <a:pt x="1762" y="4822"/>
                    <a:pt x="1834" y="4763"/>
                    <a:pt x="1834" y="4679"/>
                  </a:cubicBezTo>
                  <a:lnTo>
                    <a:pt x="1834" y="4358"/>
                  </a:lnTo>
                  <a:cubicBezTo>
                    <a:pt x="1834" y="4298"/>
                    <a:pt x="1846" y="4239"/>
                    <a:pt x="1893" y="4179"/>
                  </a:cubicBezTo>
                  <a:lnTo>
                    <a:pt x="2048" y="3965"/>
                  </a:lnTo>
                  <a:cubicBezTo>
                    <a:pt x="2107" y="3858"/>
                    <a:pt x="2155" y="3751"/>
                    <a:pt x="2155" y="3632"/>
                  </a:cubicBezTo>
                  <a:lnTo>
                    <a:pt x="2155" y="2298"/>
                  </a:lnTo>
                  <a:cubicBezTo>
                    <a:pt x="2107" y="2120"/>
                    <a:pt x="2012" y="1965"/>
                    <a:pt x="1869" y="1893"/>
                  </a:cubicBezTo>
                  <a:lnTo>
                    <a:pt x="1512" y="1715"/>
                  </a:lnTo>
                  <a:lnTo>
                    <a:pt x="1512" y="1703"/>
                  </a:lnTo>
                  <a:lnTo>
                    <a:pt x="1512" y="1489"/>
                  </a:lnTo>
                  <a:cubicBezTo>
                    <a:pt x="1691" y="1358"/>
                    <a:pt x="1810" y="1131"/>
                    <a:pt x="1810" y="893"/>
                  </a:cubicBezTo>
                  <a:lnTo>
                    <a:pt x="1810" y="596"/>
                  </a:lnTo>
                  <a:cubicBezTo>
                    <a:pt x="1810" y="274"/>
                    <a:pt x="1536" y="0"/>
                    <a:pt x="1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5600" lIns="105600" spcFirstLastPara="1" rIns="105600" wrap="square" tIns="105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17">
                <a:solidFill>
                  <a:srgbClr val="999999"/>
                </a:solidFill>
              </a:endParaRPr>
            </a:p>
          </p:txBody>
        </p:sp>
        <p:sp>
          <p:nvSpPr>
            <p:cNvPr id="325" name="Google Shape;325;p38"/>
            <p:cNvSpPr/>
            <p:nvPr/>
          </p:nvSpPr>
          <p:spPr>
            <a:xfrm>
              <a:off x="6707084" y="3387403"/>
              <a:ext cx="261145" cy="183072"/>
            </a:xfrm>
            <a:custGeom>
              <a:rect b="b" l="l" r="r" t="t"/>
              <a:pathLst>
                <a:path extrusionOk="0" h="5752" w="8205">
                  <a:moveTo>
                    <a:pt x="2727" y="536"/>
                  </a:moveTo>
                  <a:cubicBezTo>
                    <a:pt x="2501" y="715"/>
                    <a:pt x="2311" y="953"/>
                    <a:pt x="2132" y="1227"/>
                  </a:cubicBezTo>
                  <a:cubicBezTo>
                    <a:pt x="2013" y="1417"/>
                    <a:pt x="1906" y="1608"/>
                    <a:pt x="1799" y="1822"/>
                  </a:cubicBezTo>
                  <a:lnTo>
                    <a:pt x="1013" y="1822"/>
                  </a:lnTo>
                  <a:cubicBezTo>
                    <a:pt x="1465" y="1239"/>
                    <a:pt x="2037" y="798"/>
                    <a:pt x="2727" y="536"/>
                  </a:cubicBezTo>
                  <a:close/>
                  <a:moveTo>
                    <a:pt x="3930" y="286"/>
                  </a:moveTo>
                  <a:lnTo>
                    <a:pt x="3930" y="1822"/>
                  </a:lnTo>
                  <a:lnTo>
                    <a:pt x="2120" y="1822"/>
                  </a:lnTo>
                  <a:cubicBezTo>
                    <a:pt x="2537" y="941"/>
                    <a:pt x="3192" y="358"/>
                    <a:pt x="3930" y="286"/>
                  </a:cubicBezTo>
                  <a:close/>
                  <a:moveTo>
                    <a:pt x="4216" y="286"/>
                  </a:moveTo>
                  <a:cubicBezTo>
                    <a:pt x="4954" y="346"/>
                    <a:pt x="5609" y="941"/>
                    <a:pt x="6025" y="1822"/>
                  </a:cubicBezTo>
                  <a:lnTo>
                    <a:pt x="4216" y="1822"/>
                  </a:lnTo>
                  <a:lnTo>
                    <a:pt x="4216" y="286"/>
                  </a:lnTo>
                  <a:close/>
                  <a:moveTo>
                    <a:pt x="5418" y="536"/>
                  </a:moveTo>
                  <a:cubicBezTo>
                    <a:pt x="6109" y="798"/>
                    <a:pt x="6704" y="1239"/>
                    <a:pt x="7133" y="1822"/>
                  </a:cubicBezTo>
                  <a:lnTo>
                    <a:pt x="6347" y="1822"/>
                  </a:lnTo>
                  <a:cubicBezTo>
                    <a:pt x="6252" y="1608"/>
                    <a:pt x="6133" y="1406"/>
                    <a:pt x="6014" y="1227"/>
                  </a:cubicBezTo>
                  <a:cubicBezTo>
                    <a:pt x="5835" y="953"/>
                    <a:pt x="5644" y="715"/>
                    <a:pt x="5418" y="536"/>
                  </a:cubicBezTo>
                  <a:close/>
                  <a:moveTo>
                    <a:pt x="1680" y="2108"/>
                  </a:moveTo>
                  <a:cubicBezTo>
                    <a:pt x="1489" y="2668"/>
                    <a:pt x="1370" y="3299"/>
                    <a:pt x="1358" y="3953"/>
                  </a:cubicBezTo>
                  <a:lnTo>
                    <a:pt x="275" y="3953"/>
                  </a:lnTo>
                  <a:cubicBezTo>
                    <a:pt x="299" y="3275"/>
                    <a:pt x="489" y="2656"/>
                    <a:pt x="822" y="2108"/>
                  </a:cubicBezTo>
                  <a:close/>
                  <a:moveTo>
                    <a:pt x="3930" y="2108"/>
                  </a:moveTo>
                  <a:lnTo>
                    <a:pt x="3930" y="3953"/>
                  </a:lnTo>
                  <a:lnTo>
                    <a:pt x="1644" y="3953"/>
                  </a:lnTo>
                  <a:cubicBezTo>
                    <a:pt x="1656" y="3275"/>
                    <a:pt x="1787" y="2656"/>
                    <a:pt x="2001" y="2108"/>
                  </a:cubicBezTo>
                  <a:close/>
                  <a:moveTo>
                    <a:pt x="6145" y="2108"/>
                  </a:moveTo>
                  <a:cubicBezTo>
                    <a:pt x="6359" y="2644"/>
                    <a:pt x="6490" y="3263"/>
                    <a:pt x="6502" y="3953"/>
                  </a:cubicBezTo>
                  <a:lnTo>
                    <a:pt x="4216" y="3953"/>
                  </a:lnTo>
                  <a:lnTo>
                    <a:pt x="4216" y="2108"/>
                  </a:lnTo>
                  <a:close/>
                  <a:moveTo>
                    <a:pt x="7311" y="2108"/>
                  </a:moveTo>
                  <a:cubicBezTo>
                    <a:pt x="7633" y="2644"/>
                    <a:pt x="7847" y="3263"/>
                    <a:pt x="7859" y="3953"/>
                  </a:cubicBezTo>
                  <a:lnTo>
                    <a:pt x="6787" y="3953"/>
                  </a:lnTo>
                  <a:cubicBezTo>
                    <a:pt x="6776" y="3299"/>
                    <a:pt x="6656" y="2668"/>
                    <a:pt x="6442" y="2108"/>
                  </a:cubicBezTo>
                  <a:close/>
                  <a:moveTo>
                    <a:pt x="4085" y="1"/>
                  </a:moveTo>
                  <a:cubicBezTo>
                    <a:pt x="2989" y="1"/>
                    <a:pt x="1965" y="429"/>
                    <a:pt x="1192" y="1191"/>
                  </a:cubicBezTo>
                  <a:cubicBezTo>
                    <a:pt x="418" y="1953"/>
                    <a:pt x="1" y="3001"/>
                    <a:pt x="1" y="4084"/>
                  </a:cubicBezTo>
                  <a:cubicBezTo>
                    <a:pt x="1" y="4632"/>
                    <a:pt x="108" y="5156"/>
                    <a:pt x="310" y="5656"/>
                  </a:cubicBezTo>
                  <a:cubicBezTo>
                    <a:pt x="337" y="5719"/>
                    <a:pt x="392" y="5748"/>
                    <a:pt x="443" y="5748"/>
                  </a:cubicBezTo>
                  <a:cubicBezTo>
                    <a:pt x="459" y="5748"/>
                    <a:pt x="475" y="5745"/>
                    <a:pt x="489" y="5739"/>
                  </a:cubicBezTo>
                  <a:cubicBezTo>
                    <a:pt x="560" y="5704"/>
                    <a:pt x="596" y="5620"/>
                    <a:pt x="560" y="5549"/>
                  </a:cubicBezTo>
                  <a:cubicBezTo>
                    <a:pt x="382" y="5144"/>
                    <a:pt x="299" y="4692"/>
                    <a:pt x="287" y="4227"/>
                  </a:cubicBezTo>
                  <a:lnTo>
                    <a:pt x="1370" y="4227"/>
                  </a:lnTo>
                  <a:lnTo>
                    <a:pt x="1370" y="4394"/>
                  </a:lnTo>
                  <a:cubicBezTo>
                    <a:pt x="1370" y="4465"/>
                    <a:pt x="1442" y="4525"/>
                    <a:pt x="1513" y="4525"/>
                  </a:cubicBezTo>
                  <a:cubicBezTo>
                    <a:pt x="1596" y="4525"/>
                    <a:pt x="1656" y="4454"/>
                    <a:pt x="1656" y="4382"/>
                  </a:cubicBezTo>
                  <a:lnTo>
                    <a:pt x="1656" y="4227"/>
                  </a:lnTo>
                  <a:lnTo>
                    <a:pt x="3942" y="4227"/>
                  </a:lnTo>
                  <a:lnTo>
                    <a:pt x="3942" y="4394"/>
                  </a:lnTo>
                  <a:cubicBezTo>
                    <a:pt x="3942" y="4465"/>
                    <a:pt x="4001" y="4549"/>
                    <a:pt x="4097" y="4549"/>
                  </a:cubicBezTo>
                  <a:cubicBezTo>
                    <a:pt x="4168" y="4549"/>
                    <a:pt x="4240" y="4489"/>
                    <a:pt x="4240" y="4394"/>
                  </a:cubicBezTo>
                  <a:lnTo>
                    <a:pt x="4240" y="4227"/>
                  </a:lnTo>
                  <a:lnTo>
                    <a:pt x="6537" y="4227"/>
                  </a:lnTo>
                  <a:lnTo>
                    <a:pt x="6537" y="4382"/>
                  </a:lnTo>
                  <a:cubicBezTo>
                    <a:pt x="6537" y="4454"/>
                    <a:pt x="6597" y="4525"/>
                    <a:pt x="6668" y="4525"/>
                  </a:cubicBezTo>
                  <a:cubicBezTo>
                    <a:pt x="6740" y="4525"/>
                    <a:pt x="6799" y="4465"/>
                    <a:pt x="6823" y="4394"/>
                  </a:cubicBezTo>
                  <a:lnTo>
                    <a:pt x="6823" y="4227"/>
                  </a:lnTo>
                  <a:lnTo>
                    <a:pt x="7907" y="4227"/>
                  </a:lnTo>
                  <a:cubicBezTo>
                    <a:pt x="7895" y="4692"/>
                    <a:pt x="7788" y="5120"/>
                    <a:pt x="7621" y="5549"/>
                  </a:cubicBezTo>
                  <a:cubicBezTo>
                    <a:pt x="7597" y="5632"/>
                    <a:pt x="7621" y="5704"/>
                    <a:pt x="7692" y="5739"/>
                  </a:cubicBezTo>
                  <a:cubicBezTo>
                    <a:pt x="7704" y="5751"/>
                    <a:pt x="7728" y="5751"/>
                    <a:pt x="7752" y="5751"/>
                  </a:cubicBezTo>
                  <a:cubicBezTo>
                    <a:pt x="7811" y="5751"/>
                    <a:pt x="7859" y="5716"/>
                    <a:pt x="7895" y="5656"/>
                  </a:cubicBezTo>
                  <a:cubicBezTo>
                    <a:pt x="8097" y="5168"/>
                    <a:pt x="8204" y="4632"/>
                    <a:pt x="8204" y="4084"/>
                  </a:cubicBezTo>
                  <a:cubicBezTo>
                    <a:pt x="8157" y="3001"/>
                    <a:pt x="7740" y="1965"/>
                    <a:pt x="6966" y="1191"/>
                  </a:cubicBezTo>
                  <a:cubicBezTo>
                    <a:pt x="6192" y="417"/>
                    <a:pt x="5168" y="1"/>
                    <a:pt x="4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5600" lIns="105600" spcFirstLastPara="1" rIns="105600" wrap="square" tIns="105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17">
                <a:solidFill>
                  <a:srgbClr val="999999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/>
          <p:nvPr>
            <p:ph type="title"/>
          </p:nvPr>
        </p:nvSpPr>
        <p:spPr>
          <a:xfrm>
            <a:off x="720000" y="269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Factor Impact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9"/>
          <p:cNvSpPr txBox="1"/>
          <p:nvPr>
            <p:ph idx="2" type="subTitle"/>
          </p:nvPr>
        </p:nvSpPr>
        <p:spPr>
          <a:xfrm>
            <a:off x="1695676" y="2045563"/>
            <a:ext cx="1527300" cy="865500"/>
          </a:xfrm>
          <a:prstGeom prst="rect">
            <a:avLst/>
          </a:prstGeom>
        </p:spPr>
        <p:txBody>
          <a:bodyPr anchorCtr="0" anchor="t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1"/>
              <a:t>α &lt; 0.6</a:t>
            </a:r>
            <a:endParaRPr sz="112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1"/>
              <a:t>Minimal performance differences</a:t>
            </a:r>
            <a:endParaRPr sz="112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1"/>
          </a:p>
        </p:txBody>
      </p:sp>
      <p:sp>
        <p:nvSpPr>
          <p:cNvPr id="332" name="Google Shape;332;p39"/>
          <p:cNvSpPr/>
          <p:nvPr/>
        </p:nvSpPr>
        <p:spPr>
          <a:xfrm>
            <a:off x="2143060" y="958200"/>
            <a:ext cx="632700" cy="63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9"/>
          <p:cNvSpPr txBox="1"/>
          <p:nvPr>
            <p:ph idx="5" type="subTitle"/>
          </p:nvPr>
        </p:nvSpPr>
        <p:spPr>
          <a:xfrm>
            <a:off x="1587813" y="1748176"/>
            <a:ext cx="1743000" cy="293100"/>
          </a:xfrm>
          <a:prstGeom prst="rect">
            <a:avLst/>
          </a:prstGeom>
        </p:spPr>
        <p:txBody>
          <a:bodyPr anchorCtr="0" anchor="t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1"/>
              <a:buFont typeface="Arial"/>
              <a:buNone/>
            </a:pPr>
            <a:r>
              <a:rPr lang="en" sz="1442"/>
              <a:t>Green Zone</a:t>
            </a:r>
            <a:endParaRPr sz="1442"/>
          </a:p>
        </p:txBody>
      </p:sp>
      <p:sp>
        <p:nvSpPr>
          <p:cNvPr id="334" name="Google Shape;334;p39"/>
          <p:cNvSpPr txBox="1"/>
          <p:nvPr>
            <p:ph idx="3" type="subTitle"/>
          </p:nvPr>
        </p:nvSpPr>
        <p:spPr>
          <a:xfrm>
            <a:off x="5821350" y="2057000"/>
            <a:ext cx="1635900" cy="560700"/>
          </a:xfrm>
          <a:prstGeom prst="rect">
            <a:avLst/>
          </a:prstGeom>
        </p:spPr>
        <p:txBody>
          <a:bodyPr anchorCtr="0" anchor="t" bIns="70500" lIns="70500" spcFirstLastPara="1" rIns="70500" wrap="square" tIns="7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9"/>
              <a:t>0.6 &lt; α &lt; 0.78</a:t>
            </a:r>
            <a:endParaRPr sz="107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9"/>
              <a:t>Quadratic probing strongly recommended</a:t>
            </a:r>
            <a:endParaRPr sz="1079"/>
          </a:p>
        </p:txBody>
      </p:sp>
      <p:sp>
        <p:nvSpPr>
          <p:cNvPr id="335" name="Google Shape;335;p39"/>
          <p:cNvSpPr/>
          <p:nvPr/>
        </p:nvSpPr>
        <p:spPr>
          <a:xfrm>
            <a:off x="6334757" y="976650"/>
            <a:ext cx="608700" cy="60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0500" lIns="70500" spcFirstLastPara="1" rIns="70500" wrap="square" tIns="7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9"/>
          </a:p>
        </p:txBody>
      </p:sp>
      <p:sp>
        <p:nvSpPr>
          <p:cNvPr id="336" name="Google Shape;336;p39"/>
          <p:cNvSpPr txBox="1"/>
          <p:nvPr>
            <p:ph idx="6" type="subTitle"/>
          </p:nvPr>
        </p:nvSpPr>
        <p:spPr>
          <a:xfrm>
            <a:off x="5660663" y="1736816"/>
            <a:ext cx="1957200" cy="282000"/>
          </a:xfrm>
          <a:prstGeom prst="rect">
            <a:avLst/>
          </a:prstGeom>
        </p:spPr>
        <p:txBody>
          <a:bodyPr anchorCtr="0" anchor="t" bIns="70500" lIns="70500" spcFirstLastPara="1" rIns="70500" wrap="square" tIns="7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7"/>
              <a:t>Optimal Zone</a:t>
            </a:r>
            <a:endParaRPr sz="1387"/>
          </a:p>
        </p:txBody>
      </p:sp>
      <p:sp>
        <p:nvSpPr>
          <p:cNvPr id="337" name="Google Shape;337;p39"/>
          <p:cNvSpPr txBox="1"/>
          <p:nvPr>
            <p:ph idx="3" type="subTitle"/>
          </p:nvPr>
        </p:nvSpPr>
        <p:spPr>
          <a:xfrm>
            <a:off x="8961200" y="5295150"/>
            <a:ext cx="16839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Randomizes hash function at runtime</a:t>
            </a:r>
            <a:endParaRPr/>
          </a:p>
        </p:txBody>
      </p:sp>
      <p:sp>
        <p:nvSpPr>
          <p:cNvPr id="338" name="Google Shape;338;p39"/>
          <p:cNvSpPr txBox="1"/>
          <p:nvPr>
            <p:ph idx="2" type="subTitle"/>
          </p:nvPr>
        </p:nvSpPr>
        <p:spPr>
          <a:xfrm>
            <a:off x="1672498" y="4114825"/>
            <a:ext cx="1573800" cy="926700"/>
          </a:xfrm>
          <a:prstGeom prst="rect">
            <a:avLst/>
          </a:prstGeom>
        </p:spPr>
        <p:txBody>
          <a:bodyPr anchorCtr="0" anchor="t" bIns="78450" lIns="78450" spcFirstLastPara="1" rIns="78450" wrap="square" tIns="78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1"/>
              <a:t>α &gt; 0.78</a:t>
            </a:r>
            <a:endParaRPr sz="120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1"/>
              <a:t>Performance degradation begins</a:t>
            </a:r>
            <a:endParaRPr sz="1201"/>
          </a:p>
        </p:txBody>
      </p:sp>
      <p:sp>
        <p:nvSpPr>
          <p:cNvPr id="339" name="Google Shape;339;p39"/>
          <p:cNvSpPr/>
          <p:nvPr/>
        </p:nvSpPr>
        <p:spPr>
          <a:xfrm>
            <a:off x="2120642" y="2938228"/>
            <a:ext cx="677400" cy="67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8450" lIns="78450" spcFirstLastPara="1" rIns="78450" wrap="square" tIns="7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9"/>
          <p:cNvSpPr txBox="1"/>
          <p:nvPr>
            <p:ph idx="5" type="subTitle"/>
          </p:nvPr>
        </p:nvSpPr>
        <p:spPr>
          <a:xfrm>
            <a:off x="1526088" y="3784120"/>
            <a:ext cx="1866600" cy="313800"/>
          </a:xfrm>
          <a:prstGeom prst="rect">
            <a:avLst/>
          </a:prstGeom>
        </p:spPr>
        <p:txBody>
          <a:bodyPr anchorCtr="0" anchor="t" bIns="78450" lIns="78450" spcFirstLastPara="1" rIns="78450" wrap="square" tIns="78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44"/>
              <a:buFont typeface="Arial"/>
              <a:buNone/>
            </a:pPr>
            <a:r>
              <a:rPr lang="en" sz="1544"/>
              <a:t>Yellow Zone</a:t>
            </a:r>
            <a:endParaRPr sz="1544"/>
          </a:p>
        </p:txBody>
      </p:sp>
      <p:sp>
        <p:nvSpPr>
          <p:cNvPr id="341" name="Google Shape;341;p39"/>
          <p:cNvSpPr/>
          <p:nvPr/>
        </p:nvSpPr>
        <p:spPr>
          <a:xfrm>
            <a:off x="6334782" y="2945450"/>
            <a:ext cx="608700" cy="60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0500" lIns="70500" spcFirstLastPara="1" rIns="70500" wrap="square" tIns="7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9"/>
          </a:p>
        </p:txBody>
      </p:sp>
      <p:sp>
        <p:nvSpPr>
          <p:cNvPr id="342" name="Google Shape;342;p39"/>
          <p:cNvSpPr txBox="1"/>
          <p:nvPr>
            <p:ph idx="6" type="subTitle"/>
          </p:nvPr>
        </p:nvSpPr>
        <p:spPr>
          <a:xfrm>
            <a:off x="5660688" y="3705616"/>
            <a:ext cx="1957200" cy="282000"/>
          </a:xfrm>
          <a:prstGeom prst="rect">
            <a:avLst/>
          </a:prstGeom>
        </p:spPr>
        <p:txBody>
          <a:bodyPr anchorCtr="0" anchor="t" bIns="70500" lIns="70500" spcFirstLastPara="1" rIns="70500" wrap="square" tIns="7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7"/>
              <a:t>Red Zone</a:t>
            </a:r>
            <a:endParaRPr sz="1387"/>
          </a:p>
        </p:txBody>
      </p:sp>
      <p:sp>
        <p:nvSpPr>
          <p:cNvPr id="343" name="Google Shape;343;p39"/>
          <p:cNvSpPr txBox="1"/>
          <p:nvPr>
            <p:ph idx="3" type="subTitle"/>
          </p:nvPr>
        </p:nvSpPr>
        <p:spPr>
          <a:xfrm>
            <a:off x="5821350" y="4175275"/>
            <a:ext cx="1635900" cy="560700"/>
          </a:xfrm>
          <a:prstGeom prst="rect">
            <a:avLst/>
          </a:prstGeom>
        </p:spPr>
        <p:txBody>
          <a:bodyPr anchorCtr="0" anchor="t" bIns="70500" lIns="70500" spcFirstLastPara="1" rIns="70500" wrap="square" tIns="7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9"/>
              <a:t>α &gt; 0.9</a:t>
            </a:r>
            <a:endParaRPr sz="107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9"/>
              <a:t>Unacceptable for production</a:t>
            </a:r>
            <a:endParaRPr sz="107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9"/>
          </a:p>
        </p:txBody>
      </p:sp>
      <p:pic>
        <p:nvPicPr>
          <p:cNvPr id="344" name="Google Shape;3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166" y="1038850"/>
            <a:ext cx="512300" cy="51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953" y="994200"/>
            <a:ext cx="560692" cy="5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8966" y="2996575"/>
            <a:ext cx="560700" cy="560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8941" y="2957275"/>
            <a:ext cx="560700" cy="560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Performers based on </a:t>
            </a:r>
            <a:r>
              <a:rPr lang="en" sz="3015"/>
              <a:t>α = 0.78</a:t>
            </a:r>
            <a:endParaRPr sz="4000"/>
          </a:p>
        </p:txBody>
      </p:sp>
      <p:sp>
        <p:nvSpPr>
          <p:cNvPr id="353" name="Google Shape;353;p40"/>
          <p:cNvSpPr txBox="1"/>
          <p:nvPr>
            <p:ph idx="1" type="subTitle"/>
          </p:nvPr>
        </p:nvSpPr>
        <p:spPr>
          <a:xfrm>
            <a:off x="1294375" y="1621676"/>
            <a:ext cx="5706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Comprehensive testing of 60 configurations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Clear winner: Bitwise Mixing + Quadratic Probing at α ≈ 0.70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Achieves &lt;2 avg and &lt;60 max comparisons per query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54" name="Google Shape;354;p40"/>
          <p:cNvSpPr txBox="1"/>
          <p:nvPr>
            <p:ph idx="2" type="subTitle"/>
          </p:nvPr>
        </p:nvSpPr>
        <p:spPr>
          <a:xfrm>
            <a:off x="1935300" y="2802246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Sub-microsecond query performance</a:t>
            </a:r>
            <a:endParaRPr sz="1300"/>
          </a:p>
          <a:p>
            <a:pPr indent="-311150" lvl="0" marL="457200" rtl="0" algn="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Predictable worst-case behavior</a:t>
            </a:r>
            <a:endParaRPr sz="1300"/>
          </a:p>
          <a:p>
            <a:pPr indent="-311150" lvl="0" marL="457200" rtl="0" algn="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Scalable solution for browser URL caching</a:t>
            </a:r>
            <a:endParaRPr sz="1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55" name="Google Shape;355;p40"/>
          <p:cNvSpPr txBox="1"/>
          <p:nvPr>
            <p:ph idx="3" type="subTitle"/>
          </p:nvPr>
        </p:nvSpPr>
        <p:spPr>
          <a:xfrm>
            <a:off x="1294375" y="3930871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Average Comparisons:</a:t>
            </a:r>
            <a:r>
              <a:rPr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 1.63 per query</a:t>
            </a:r>
            <a:endParaRPr sz="1300">
              <a:solidFill>
                <a:srgbClr val="CCCCCC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Maximum Comparisons:</a:t>
            </a:r>
            <a:r>
              <a:rPr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 49 per query</a:t>
            </a:r>
            <a:endParaRPr sz="1600"/>
          </a:p>
        </p:txBody>
      </p:sp>
      <p:sp>
        <p:nvSpPr>
          <p:cNvPr id="356" name="Google Shape;356;p40"/>
          <p:cNvSpPr/>
          <p:nvPr/>
        </p:nvSpPr>
        <p:spPr>
          <a:xfrm>
            <a:off x="720000" y="1447574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1</a:t>
            </a:r>
            <a:endParaRPr sz="15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57" name="Google Shape;357;p40"/>
          <p:cNvSpPr/>
          <p:nvPr/>
        </p:nvSpPr>
        <p:spPr>
          <a:xfrm>
            <a:off x="7642208" y="2741508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2</a:t>
            </a:r>
            <a:endParaRPr sz="13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58" name="Google Shape;358;p40"/>
          <p:cNvSpPr/>
          <p:nvPr/>
        </p:nvSpPr>
        <p:spPr>
          <a:xfrm>
            <a:off x="719992" y="3731366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3</a:t>
            </a:r>
            <a:endParaRPr sz="11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59" name="Google Shape;359;p40"/>
          <p:cNvSpPr txBox="1"/>
          <p:nvPr>
            <p:ph idx="4" type="subTitle"/>
          </p:nvPr>
        </p:nvSpPr>
        <p:spPr>
          <a:xfrm>
            <a:off x="1294375" y="13298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Summary</a:t>
            </a:r>
            <a:endParaRPr/>
          </a:p>
        </p:txBody>
      </p:sp>
      <p:sp>
        <p:nvSpPr>
          <p:cNvPr id="360" name="Google Shape;360;p40"/>
          <p:cNvSpPr txBox="1"/>
          <p:nvPr>
            <p:ph idx="5" type="subTitle"/>
          </p:nvPr>
        </p:nvSpPr>
        <p:spPr>
          <a:xfrm>
            <a:off x="1935300" y="2447650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Impact</a:t>
            </a:r>
            <a:endParaRPr/>
          </a:p>
        </p:txBody>
      </p:sp>
      <p:sp>
        <p:nvSpPr>
          <p:cNvPr id="361" name="Google Shape;361;p40"/>
          <p:cNvSpPr txBox="1"/>
          <p:nvPr>
            <p:ph idx="6" type="subTitle"/>
          </p:nvPr>
        </p:nvSpPr>
        <p:spPr>
          <a:xfrm>
            <a:off x="1294375" y="35709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+ Linear Probing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erospace Engineering Thesis Defense by Slidesgo">
  <a:themeElements>
    <a:clrScheme name="Simple Light">
      <a:dk1>
        <a:srgbClr val="FFFFFF"/>
      </a:dk1>
      <a:lt1>
        <a:srgbClr val="FFCF00"/>
      </a:lt1>
      <a:dk2>
        <a:srgbClr val="000000"/>
      </a:dk2>
      <a:lt2>
        <a:srgbClr val="25252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